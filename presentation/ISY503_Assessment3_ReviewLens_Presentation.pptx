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987bd25d09d48ea" /><Relationship Type="http://schemas.openxmlformats.org/officeDocument/2006/relationships/extended-properties" Target="/docProps/app.xml" Id="Rd59ced01c86f4e1e" /><Relationship Type="http://schemas.openxmlformats.org/officeDocument/2006/relationships/officeDocument" Target="/ppt/presentation.xml" Id="R776ce2ab465549f8" /></Relationships>
</file>

<file path=ppt/presentation.xml><?xml version="1.0" encoding="utf-8"?>
<p:presentation xmlns:p="http://schemas.openxmlformats.org/presentationml/2006/main">
  <p:sldMasterIdLst>
    <p:sldMasterId xmlns:r="http://schemas.openxmlformats.org/officeDocument/2006/relationships" id="2147483648" r:id="R7dd09e1ae88a4530"/>
  </p:sldMasterIdLst>
  <p:notesMasterIdLst>
    <p:notesMasterId xmlns:r="http://schemas.openxmlformats.org/officeDocument/2006/relationships" r:id="Rdfec75eaf7884175"/>
  </p:notesMasterIdLst>
  <p:sldIdLst>
    <p:sldId xmlns:r="http://schemas.openxmlformats.org/officeDocument/2006/relationships" id="256" r:id="R9906d972ed0241e0"/>
    <p:sldId xmlns:r="http://schemas.openxmlformats.org/officeDocument/2006/relationships" id="257" r:id="R9e25c09a55544229"/>
    <p:sldId xmlns:r="http://schemas.openxmlformats.org/officeDocument/2006/relationships" id="258" r:id="R546b021cacc64fe6"/>
    <p:sldId xmlns:r="http://schemas.openxmlformats.org/officeDocument/2006/relationships" id="259" r:id="Ra08e5885ed3645f1"/>
    <p:sldId xmlns:r="http://schemas.openxmlformats.org/officeDocument/2006/relationships" id="260" r:id="R87f7596f5ffb4e8e"/>
    <p:sldId xmlns:r="http://schemas.openxmlformats.org/officeDocument/2006/relationships" id="261" r:id="Rff68fa15d7d74a55"/>
    <p:sldId xmlns:r="http://schemas.openxmlformats.org/officeDocument/2006/relationships" id="262" r:id="R9a84a209ab354567"/>
    <p:sldId xmlns:r="http://schemas.openxmlformats.org/officeDocument/2006/relationships" id="263" r:id="R59b4c9decb2643e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9cdae3d7c94c99" /><Relationship Type="http://schemas.openxmlformats.org/officeDocument/2006/relationships/slideMaster" Target="/ppt/slideMasters/slideMaster1.xml" Id="R7dd09e1ae88a4530" /><Relationship Type="http://schemas.openxmlformats.org/officeDocument/2006/relationships/notesMaster" Target="/ppt/notesMasters/notesMaster1.xml" Id="Rdfec75eaf7884175" /><Relationship Type="http://schemas.openxmlformats.org/officeDocument/2006/relationships/presProps" Target="/ppt/presProps.xml" Id="R8bc4091022ff4a61" /><Relationship Type="http://schemas.openxmlformats.org/officeDocument/2006/relationships/tableStyles" Target="/ppt/tableStyles.xml" Id="R1fa72d3018334ab4" /><Relationship Type="http://schemas.openxmlformats.org/officeDocument/2006/relationships/slide" Target="/ppt/slides/slide1.xml" Id="R9906d972ed0241e0" /><Relationship Type="http://schemas.openxmlformats.org/officeDocument/2006/relationships/slide" Target="/ppt/slides/slide2.xml" Id="R9e25c09a55544229" /><Relationship Type="http://schemas.openxmlformats.org/officeDocument/2006/relationships/slide" Target="/ppt/slides/slide3.xml" Id="R546b021cacc64fe6" /><Relationship Type="http://schemas.openxmlformats.org/officeDocument/2006/relationships/slide" Target="/ppt/slides/slide4.xml" Id="Ra08e5885ed3645f1" /><Relationship Type="http://schemas.openxmlformats.org/officeDocument/2006/relationships/slide" Target="/ppt/slides/slide5.xml" Id="R87f7596f5ffb4e8e" /><Relationship Type="http://schemas.openxmlformats.org/officeDocument/2006/relationships/slide" Target="/ppt/slides/slide6.xml" Id="Rff68fa15d7d74a55" /><Relationship Type="http://schemas.openxmlformats.org/officeDocument/2006/relationships/slide" Target="/ppt/slides/slide7.xml" Id="R9a84a209ab354567" /><Relationship Type="http://schemas.openxmlformats.org/officeDocument/2006/relationships/slide" Target="/ppt/slides/slide8.xml" Id="R59b4c9decb2643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4f0265579348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16b627a6aa4313" /><Relationship Type="http://schemas.openxmlformats.org/officeDocument/2006/relationships/notesMaster" Target="/ppt/notesMasters/notesMaster1.xml" Id="Rbf7d00f7cb1e49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e9afeff320447a" /><Relationship Type="http://schemas.openxmlformats.org/officeDocument/2006/relationships/notesMaster" Target="/ppt/notesMasters/notesMaster1.xml" Id="R5f27ca8e9a204b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dbd147c3a24836" /><Relationship Type="http://schemas.openxmlformats.org/officeDocument/2006/relationships/notesMaster" Target="/ppt/notesMasters/notesMaster1.xml" Id="Rbb61e1b560724c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c1abe2da164532" /><Relationship Type="http://schemas.openxmlformats.org/officeDocument/2006/relationships/notesMaster" Target="/ppt/notesMasters/notesMaster1.xml" Id="Rc58793fe5f0642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2e2a92df81454c87" /><Relationship Type="http://schemas.openxmlformats.org/officeDocument/2006/relationships/notesMaster" Target="/ppt/notesMasters/notesMaster1.xml" Id="Rc9b665f4bce8459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a5f04bfc4cc4fe1" /><Relationship Type="http://schemas.openxmlformats.org/officeDocument/2006/relationships/notesMaster" Target="/ppt/notesMasters/notesMaster1.xml" Id="Rc9e5ebaa2ac347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5150757ec9496d" /><Relationship Type="http://schemas.openxmlformats.org/officeDocument/2006/relationships/notesMaster" Target="/ppt/notesMasters/notesMaster1.xml" Id="R26b77742d1cc48ef" /></Relationships>
</file>

<file path=ppt/notesSlides/_rels/notesSlide8.xml.rels>&#65279;<?xml version="1.0" encoding="utf-8"?><Relationships xmlns="http://schemas.openxmlformats.org/package/2006/relationships"><Relationship Type="http://schemas.openxmlformats.org/officeDocument/2006/relationships/slide" Target="/ppt/slides/slide8.xml" Id="Rd1146f259a024271" /><Relationship Type="http://schemas.openxmlformats.org/officeDocument/2006/relationships/notesMaster" Target="/ppt/notesMasters/notesMaster1.xml" Id="Ra0a668647d9944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Our project is called ReviewLens. It is a sentiment analysis tool for English Amazon product reviews. The user enters a review, and our neural network classifies it as either a positive review or a negative review. In this presentation, we will briefly explain the problem, the data, the model, the results and the working website.</a:t>
            </a:r>
          </a:p>
          <a:p xmlns:a="http://schemas.openxmlformats.org/drawingml/2006/main">
            <a:r>
              <a:t/>
            </a:r>
          </a:p>
          <a:p xmlns:a="http://schemas.openxmlformats.org/drawingml/2006/main">
            <a:r>
              <a:t>[Sources]</a:t>
            </a:r>
          </a:p>
          <a:p xmlns:a="http://schemas.openxmlformats.org/drawingml/2006/main">
            <a:r>
              <a:t>- https://vcg-code.github.io/ISY503-Assessment-3-ReviewLens/ (project interface)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follows a complete NLP pipeline. First, we receive an English Amazon review as text. Then we clean and encode the text, pass it through the trained neural network, and return one clear result. The website uses the same trained model files as our evaluation. The prediction runs inside the browser, so the review is not sent to an external server.</a:t>
            </a:r>
          </a:p>
          <a:p xmlns:a="http://schemas.openxmlformats.org/drawingml/2006/main">
            <a:r>
              <a:t/>
            </a:r>
          </a:p>
          <a:p xmlns:a="http://schemas.openxmlformats.org/drawingml/2006/main">
            <a:r>
              <a:t>[Sources]</a:t>
            </a:r>
          </a:p>
          <a:p xmlns:a="http://schemas.openxmlformats.org/drawingml/2006/main">
            <a:r>
              <a:t>- https://github.com/vcg-code/ISY503-Assessment-3-ReviewLens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training, we used the official Johns Hopkins Multi-Domain Sentiment Dataset. It contains eight thousand labelled Amazon reviews from four domains: books, DVDs, electronics and kitchen products. I removed one hundred and forty-eight exact duplicates to reduce data leakage. I also removed one hundred and fifty-four very short or very long reviews as length outliers. This left seven thousand six hundred and ninety-eight reviews. Finally, I used a reproducible stratified split: five thousand three hundred and eighty-eight reviews for training, one thousand one hundred and fifty-three for validation, and one thousand one hundred and fifty-seven for testing.</a:t>
            </a:r>
          </a:p>
          <a:p xmlns:a="http://schemas.openxmlformats.org/drawingml/2006/main">
            <a:r>
              <a:t/>
            </a:r>
          </a:p>
          <a:p xmlns:a="http://schemas.openxmlformats.org/drawingml/2006/main">
            <a:r>
              <a:t>[Sources]</a:t>
            </a:r>
          </a:p>
          <a:p xmlns:a="http://schemas.openxmlformats.org/drawingml/2006/main">
            <a:r>
              <a:t>- https://www.cs.jhu.edu/~mdredze/datasets/sentiment/index2.html</a:t>
            </a:r>
          </a:p>
          <a:p xmlns:a="http://schemas.openxmlformats.org/drawingml/2006/main">
            <a:r>
              <a:t>- https://aclanthology.org/P07-1056/</a:t>
            </a:r>
          </a:p>
          <a:p xmlns:a="http://schemas.openxmlformats.org/drawingml/2006/main">
            <a:r>
              <a:t>- https://github.com/vcg-code/ISY503-Assessment-3-ReviewLens/blob/main/ml/artifacts/training_report.json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is a small neural network built in PyTorch. First, each token becomes an ID. The embedding layer converts each ID into a forty-eight-dimensional word vector. Average pooling combines all valid word vectors into one summary of the review. A dense layer with sixty-four units and ReLU learns nonlinear sentiment patterns. Dropout randomly hides thirty-five per cent of the hidden activations during training, which helps reduce overfitting. Finally, the sigmoid output produces a probability between zero and one. The decision threshold converts this probability into Positive review or Negative review.</a:t>
            </a:r>
          </a:p>
          <a:p xmlns:a="http://schemas.openxmlformats.org/drawingml/2006/main">
            <a:r>
              <a:t/>
            </a:r>
          </a:p>
          <a:p xmlns:a="http://schemas.openxmlformats.org/drawingml/2006/main">
            <a:r>
              <a:t>[Sources]</a:t>
            </a:r>
          </a:p>
          <a:p xmlns:a="http://schemas.openxmlformats.org/drawingml/2006/main">
            <a:r>
              <a:t>- https://github.com/vcg-code/ISY503-Assessment-3-ReviewLens</a:t>
            </a:r>
          </a:p>
          <a:p xmlns:a="http://schemas.openxmlformats.org/drawingml/2006/main">
            <a:r>
              <a:t>- https://proceedings.neurips.cc/paper/2019/hash/bdbca288fee7f92f2bfa9f7012727740-Abstract.html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training, I used binary cross-entropy as the loss function and AdamW as the optimiser. The batch size was one hundred and twenty-eight. Early stopping selected the best validation result instead of simply keeping the last epoch. Gradient clipping helped keep the updates stable. I also used seed five-zero-three so the data split and training process can be reproduced. Importantly, the vocabulary was fitted only on the training data, which reduces information leakage from the validation and test sets.</a:t>
            </a:r>
          </a:p>
          <a:p xmlns:a="http://schemas.openxmlformats.org/drawingml/2006/main">
            <a:r>
              <a:t/>
            </a:r>
          </a:p>
          <a:p xmlns:a="http://schemas.openxmlformats.org/drawingml/2006/main">
            <a:r>
              <a:t>[Sources]</a:t>
            </a:r>
          </a:p>
          <a:p xmlns:a="http://schemas.openxmlformats.org/drawingml/2006/main">
            <a:r>
              <a:t>- https://github.com/vcg-code/ISY503-Assessment-3-ReviewLens/blob/main/ml/train_model.py</a:t>
            </a:r>
          </a:p>
          <a:p xmlns:a="http://schemas.openxmlformats.org/drawingml/2006/main">
            <a:r>
              <a:t>- https://github.com/vcg-code/ISY503-Assessment-3-ReviewLens/blob/main/ml/artifacts/training_report.json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evaluated the final model on the held-out test set, which was not used for training. The accuracy was eighty-one point nine per cent, the macro F1 score was zero point eight-one-nine, and the ROC-AUC was zero point eight-eight-nine. The recall was seventy-nine point five per cent for positive reviews and eighty-four point five per cent for negative reviews. The confusion matrix shows four hundred and eighty-four correct negative predictions and four hundred and sixty-four correct positive predictions. The similar recall values indicate that performance is reasonably balanced between the two classes.</a:t>
            </a:r>
          </a:p>
          <a:p xmlns:a="http://schemas.openxmlformats.org/drawingml/2006/main">
            <a:r>
              <a:t/>
            </a:r>
          </a:p>
          <a:p xmlns:a="http://schemas.openxmlformats.org/drawingml/2006/main">
            <a:r>
              <a:t>[Sources]</a:t>
            </a:r>
          </a:p>
          <a:p xmlns:a="http://schemas.openxmlformats.org/drawingml/2006/main">
            <a:r>
              <a:t>- https://github.com/vcg-code/ISY503-Assessment-3-ReviewLens/blob/main/ml/artifacts/training_report.json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I will demonstrate the final tool. I enter an English product review or choose one of the prepared examples. When I click Analyse review, the browser cleans and tokenises the text, loads the exported neural-network weights, and performs the forward pass locally. The output uses the exact required wording: Positive review or Negative review. The percentage is the model confidence, but it is not certainty. I will show one clearly positive example and one clearly negative example. If the internet connection fails, I will use the screenshots in this slide as a backup. Positive demo: The product arrived quickly, works perfectly and feels much better than I expected. Negative demo: This stopped working after two days. The quality is poor and I would not recommend it.</a:t>
            </a:r>
          </a:p>
          <a:p xmlns:a="http://schemas.openxmlformats.org/drawingml/2006/main">
            <a:r>
              <a:t/>
            </a:r>
          </a:p>
          <a:p xmlns:a="http://schemas.openxmlformats.org/drawingml/2006/main">
            <a:r>
              <a:t>[Sources]</a:t>
            </a:r>
          </a:p>
          <a:p xmlns:a="http://schemas.openxmlformats.org/drawingml/2006/main">
            <a:r>
              <a:t>- https://vcg-code.github.io/ISY503-Assessment-3-ReviewLens/ (project interface)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ReviewLens demonstrates a complete and working NLP system, from data preparation and neural-network training to evaluation and browser inference. However, a prediction is not a fact. The data contains older English Amazon reviews, and the model can struggle with sarcasm, unusual spelling, mixed sentiment and cultural context. For this reason, confidence should support human judgement rather than replace it. Our conclusion is that the model provides useful evidence, but not a final verdict.</a:t>
            </a:r>
          </a:p>
          <a:p xmlns:a="http://schemas.openxmlformats.org/drawingml/2006/main">
            <a:r>
              <a:t/>
            </a:r>
          </a:p>
          <a:p xmlns:a="http://schemas.openxmlformats.org/drawingml/2006/main">
            <a:r>
              <a:t>[Sources]</a:t>
            </a:r>
          </a:p>
          <a:p xmlns:a="http://schemas.openxmlformats.org/drawingml/2006/main">
            <a:r>
              <a:t>- https://www.cs.jhu.edu/~mdredze/datasets/sentiment/index2.html</a:t>
            </a:r>
          </a:p>
          <a:p xmlns:a="http://schemas.openxmlformats.org/drawingml/2006/main">
            <a:r>
              <a:t>- https://github.com/vcg-code/ISY503-Assessment-3-ReviewLens#ethics-and-limitations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3b2debb6e041a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89cb4a61284308" /><Relationship Type="http://schemas.openxmlformats.org/officeDocument/2006/relationships/slideLayout" Target="/ppt/slideLayouts/slideLayout1.xml" Id="R53db9486a82e4bd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db9486a82e4bd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fee02d4d8f34694" /><Relationship Type="http://schemas.openxmlformats.org/officeDocument/2006/relationships/image" Target="/ppt/media/image.jpeg" Id="R9aab5d43e1464eff" /><Relationship Type="http://schemas.openxmlformats.org/officeDocument/2006/relationships/notesSlide" Target="/ppt/notesSlides/notesSlide1.xml" Id="R2e9531789af34c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f381aa5830342f5" /><Relationship Type="http://schemas.openxmlformats.org/officeDocument/2006/relationships/notesSlide" Target="/ppt/notesSlides/notesSlide2.xml" Id="R34772848fe764d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f5ab5e4d3964f62" /><Relationship Type="http://schemas.openxmlformats.org/officeDocument/2006/relationships/notesSlide" Target="/ppt/notesSlides/notesSlide3.xml" Id="Rfd7ad366b4ef484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d46812aba4e4602" /><Relationship Type="http://schemas.openxmlformats.org/officeDocument/2006/relationships/notesSlide" Target="/ppt/notesSlides/notesSlide4.xml" Id="Rcdc3247b7e9349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c570b36796b4b61" /><Relationship Type="http://schemas.openxmlformats.org/officeDocument/2006/relationships/notesSlide" Target="/ppt/notesSlides/notesSlide5.xml" Id="Rcf06663acd9f4a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69d2c05ec704c18" /><Relationship Type="http://schemas.openxmlformats.org/officeDocument/2006/relationships/chart" Target="/ppt/slides/charts/chart1.xml" Id="R3f12592f6d8e4b08" /><Relationship Type="http://schemas.openxmlformats.org/officeDocument/2006/relationships/notesSlide" Target="/ppt/notesSlides/notesSlide6.xml" Id="Re674d2ed20414a2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7cabe7be43e4dcd" /><Relationship Type="http://schemas.openxmlformats.org/officeDocument/2006/relationships/image" Target="/ppt/media/image2.jpeg" Id="Rec5f52a57bb542de" /><Relationship Type="http://schemas.openxmlformats.org/officeDocument/2006/relationships/notesSlide" Target="/ppt/notesSlides/notesSlide7.xml" Id="R2669275067c5432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ab8cf384c7f4ec5" /><Relationship Type="http://schemas.openxmlformats.org/officeDocument/2006/relationships/notesSlide" Target="/ppt/notesSlides/notesSlide8.xml" Id="R5dd10829d8354cd5" /></Relationships>
</file>

<file path=ppt/slides/charts/chart1.xml><?xml version="1.0" encoding="utf-8"?>
<c:chartSpace xmlns:c="http://schemas.openxmlformats.org/drawingml/2006/chart">
  <c:lang val="en-US"/>
  <c:chart>
    <c:plotArea>
      <c:barChart>
        <c:barDir val="col"/>
        <c:grouping val="clustered"/>
        <c:varyColors val="0"/>
        <c:ser>
          <c:idx val="0"/>
          <c:order val="0"/>
          <c:tx>
            <c:v>Score (%)</c:v>
          </c:tx>
          <c:spPr>
            <a:solidFill xmlns:a="http://schemas.openxmlformats.org/drawingml/2006/main">
              <a:srgbClr val="087F75"/>
            </a:solidFill>
          </c:spPr>
          <c:cat>
            <c:strLit>
              <c:ptCount val="3"/>
              <c:pt idx="0">
                <c:v>Accuracy</c:v>
              </c:pt>
              <c:pt idx="1">
                <c:v>Macro F1</c:v>
              </c:pt>
              <c:pt idx="2">
                <c:v>ROC-AUC</c:v>
              </c:pt>
            </c:strLit>
          </c:cat>
          <c:val>
            <c:numLit>
              <c:formatCode>General</c:formatCode>
              <c:ptCount val="3"/>
              <c:pt idx="0">
                <c:v>81.94</c:v>
              </c:pt>
              <c:pt idx="1">
                <c:v>81.93</c:v>
              </c:pt>
              <c:pt idx="2">
                <c:v>88.94</c:v>
              </c:pt>
            </c:numLit>
          </c:val>
        </c:ser>
        <c:dLbls>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EDB"/>
            </a:solidFill>
            <a:prstDash val="solid"/>
          </a:ln>
        </c:spPr>
        <c:txPr>
          <a:bodyPr xmlns:a="http://schemas.openxmlformats.org/drawingml/2006/main" anchorCtr="1"/>
          <a:lstStyle xmlns:a="http://schemas.openxmlformats.org/drawingml/2006/main"/>
          <a:p xmlns:a="http://schemas.openxmlformats.org/drawingml/2006/main">
            <a:pPr>
              <a:defRPr sz="1125">
                <a:solidFill>
                  <a:srgbClr val="14243B"/>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975">
                <a:solidFill>
                  <a:srgbClr val="536174"/>
                </a:solidFill>
                <a:latin typeface="Arial"/>
                <a:ea typeface="Arial"/>
                <a:cs typeface="Arial"/>
              </a:defRPr>
            </a:pPr>
          </a:p>
        </c:txPr>
        <c:crossAx val="48650112"/>
        <c:crossBetween val="between"/>
        <c:majorUnit val="20"/>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cover-accent">
            <a:extLst xmlns:a="http://schemas.openxmlformats.org/drawingml/2006/main">
              <a:ext uri="{FF2B5EF4-FFF2-40B4-BE49-F238E27FC236}">
                <a16:creationId xmlns:a16="http://schemas.microsoft.com/office/drawing/2014/main" id="{B604B0C6-C943-4817-8376-5A14BB155CA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7F75"/>
          </a:solidFill>
          <a:ln xmlns:a="http://schemas.openxmlformats.org/drawingml/2006/main" w="0">
            <a:solidFill>
              <a:srgbClr val="087F75"/>
            </a:solidFill>
            <a:prstDash val="solid"/>
          </a:ln>
        </p:spPr>
      </p:sp>
      <p:sp>
        <p:nvSpPr>
          <p:cNvPr id="2" name="cover-eyebrow">
            <a:extLst xmlns:a="http://schemas.openxmlformats.org/drawingml/2006/main">
              <a:ext uri="{FF2B5EF4-FFF2-40B4-BE49-F238E27FC236}">
                <a16:creationId xmlns:a16="http://schemas.microsoft.com/office/drawing/2014/main" id="{D06F974D-89BE-45CE-A535-9005F6931AEC}"/>
              </a:ext>
            </a:extLst>
          </p:cNvPr>
          <p:cNvSpPr>
            <a:spLocks xmlns:a="http://schemas.openxmlformats.org/drawingml/2006/main" noGrp="1"/>
          </p:cNvSpPr>
          <p:nvPr/>
        </p:nvSpPr>
        <p:spPr>
          <a:xfrm xmlns:a="http://schemas.openxmlformats.org/drawingml/2006/main">
            <a:off x="609600" y="59055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a:solidFill>
                  <a:srgbClr val="05635C"/>
                </a:solidFill>
                <a:latin typeface="Arial"/>
                <a:ea typeface="Arial"/>
                <a:cs typeface="Arial"/>
              </a:defRPr>
            </a:pPr>
            <a:r>
              <a:rPr sz="1200" b="1">
                <a:solidFill>
                  <a:srgbClr val="05635C"/>
                </a:solidFill>
                <a:latin typeface="Arial"/>
                <a:ea typeface="Arial"/>
                <a:cs typeface="Arial"/>
              </a:rPr>
              <a:t>ISY503 · ASSESSMENT 3</a:t>
            </a:r>
          </a:p>
        </p:txBody>
      </p:sp>
      <p:sp>
        <p:nvSpPr>
          <p:cNvPr id="3" name="cover-title">
            <a:extLst xmlns:a="http://schemas.openxmlformats.org/drawingml/2006/main">
              <a:ext uri="{FF2B5EF4-FFF2-40B4-BE49-F238E27FC236}">
                <a16:creationId xmlns:a16="http://schemas.microsoft.com/office/drawing/2014/main" id="{040C7C59-89C1-49B6-A511-44FA60DF510E}"/>
              </a:ext>
            </a:extLst>
          </p:cNvPr>
          <p:cNvSpPr>
            <a:spLocks xmlns:a="http://schemas.openxmlformats.org/drawingml/2006/main" noGrp="1"/>
          </p:cNvSpPr>
          <p:nvPr/>
        </p:nvSpPr>
        <p:spPr>
          <a:xfrm xmlns:a="http://schemas.openxmlformats.org/drawingml/2006/main">
            <a:off x="609600" y="1562100"/>
            <a:ext cx="4953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271"/>
          </a:bodyPr>
          <a:lstStyle xmlns:a="http://schemas.openxmlformats.org/drawingml/2006/main"/>
          <a:p xmlns:a="http://schemas.openxmlformats.org/drawingml/2006/main">
            <a:pPr algn="l">
              <a:defRPr sz="4800" b="1">
                <a:solidFill>
                  <a:srgbClr val="14243B"/>
                </a:solidFill>
                <a:latin typeface="Arial"/>
                <a:ea typeface="Arial"/>
                <a:cs typeface="Arial"/>
              </a:defRPr>
            </a:pPr>
            <a:r>
              <a:rPr sz="4800" b="1">
                <a:solidFill>
                  <a:srgbClr val="14243B"/>
                </a:solidFill>
                <a:latin typeface="Arial"/>
                <a:ea typeface="Arial"/>
                <a:cs typeface="Arial"/>
              </a:rPr>
              <a:t>ReviewLens</a:t>
            </a:r>
          </a:p>
        </p:txBody>
      </p:sp>
      <p:sp>
        <p:nvSpPr>
          <p:cNvPr id="4" name="cover-subtitle">
            <a:extLst xmlns:a="http://schemas.openxmlformats.org/drawingml/2006/main">
              <a:ext uri="{FF2B5EF4-FFF2-40B4-BE49-F238E27FC236}">
                <a16:creationId xmlns:a16="http://schemas.microsoft.com/office/drawing/2014/main" id="{300CFCB7-53AB-4C56-A23B-ED166D9ADC8E}"/>
              </a:ext>
            </a:extLst>
          </p:cNvPr>
          <p:cNvSpPr>
            <a:spLocks xmlns:a="http://schemas.openxmlformats.org/drawingml/2006/main" noGrp="1"/>
          </p:cNvSpPr>
          <p:nvPr/>
        </p:nvSpPr>
        <p:spPr>
          <a:xfrm xmlns:a="http://schemas.openxmlformats.org/drawingml/2006/main">
            <a:off x="609600" y="2590800"/>
            <a:ext cx="481012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0">
                <a:solidFill>
                  <a:srgbClr val="536174"/>
                </a:solidFill>
                <a:latin typeface="Arial"/>
                <a:ea typeface="Arial"/>
                <a:cs typeface="Arial"/>
              </a:defRPr>
            </a:pPr>
            <a:r>
              <a:rPr sz="2250" b="0">
                <a:solidFill>
                  <a:srgbClr val="536174"/>
                </a:solidFill>
                <a:latin typeface="Arial"/>
                <a:ea typeface="Arial"/>
                <a:cs typeface="Arial"/>
              </a:rPr>
              <a:t>Neural sentiment analysis for Amazon product reviews</a:t>
            </a:r>
          </a:p>
        </p:txBody>
      </p:sp>
      <p:sp>
        <p:nvSpPr>
          <p:cNvPr id="5" name="cover-promise">
            <a:extLst xmlns:a="http://schemas.openxmlformats.org/drawingml/2006/main">
              <a:ext uri="{FF2B5EF4-FFF2-40B4-BE49-F238E27FC236}">
                <a16:creationId xmlns:a16="http://schemas.microsoft.com/office/drawing/2014/main" id="{E4334D7A-06C2-4B9F-9340-71467FFC2624}"/>
              </a:ext>
            </a:extLst>
          </p:cNvPr>
          <p:cNvSpPr>
            <a:spLocks xmlns:a="http://schemas.openxmlformats.org/drawingml/2006/main" noGrp="1"/>
          </p:cNvSpPr>
          <p:nvPr/>
        </p:nvSpPr>
        <p:spPr>
          <a:xfrm xmlns:a="http://schemas.openxmlformats.org/drawingml/2006/main">
            <a:off x="609600" y="4476750"/>
            <a:ext cx="48101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14243B"/>
                </a:solidFill>
                <a:latin typeface="Arial"/>
                <a:ea typeface="Arial"/>
                <a:cs typeface="Arial"/>
              </a:defRPr>
            </a:pPr>
            <a:r>
              <a:rPr sz="1575" b="0">
                <a:solidFill>
                  <a:srgbClr val="14243B"/>
                </a:solidFill>
                <a:latin typeface="Arial"/>
                <a:ea typeface="Arial"/>
                <a:cs typeface="Arial"/>
              </a:rPr>
              <a:t>From raw review text to a clear positive or negative prediction.</a:t>
            </a:r>
          </a:p>
        </p:txBody>
      </p:sp>
      <p:sp>
        <p:nvSpPr>
          <p:cNvPr id="6" name="cover-image-frame">
            <a:extLst xmlns:a="http://schemas.openxmlformats.org/drawingml/2006/main">
              <a:ext uri="{FF2B5EF4-FFF2-40B4-BE49-F238E27FC236}">
                <a16:creationId xmlns:a16="http://schemas.microsoft.com/office/drawing/2014/main" id="{D7A1C18D-01B2-4F21-AC49-0C900E10CC9E}"/>
              </a:ext>
            </a:extLst>
          </p:cNvPr>
          <p:cNvSpPr>
            <a:spLocks xmlns:a="http://schemas.openxmlformats.org/drawingml/2006/main" noGrp="1"/>
          </p:cNvSpPr>
          <p:nvPr/>
        </p:nvSpPr>
        <p:spPr>
          <a:xfrm xmlns:a="http://schemas.openxmlformats.org/drawingml/2006/main">
            <a:off x="6191250" y="400050"/>
            <a:ext cx="5467350" cy="5600700"/>
          </a:xfrm>
          <a:prstGeom xmlns:a="http://schemas.openxmlformats.org/drawingml/2006/main" prst="rect">
            <a:avLst/>
          </a:prstGeom>
          <a:solidFill xmlns:a="http://schemas.openxmlformats.org/drawingml/2006/main">
            <a:srgbClr val="F7F4ED"/>
          </a:solidFill>
          <a:ln xmlns:a="http://schemas.openxmlformats.org/drawingml/2006/main" w="9525">
            <a:solidFill>
              <a:srgbClr val="D9DEDB"/>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aab5d43e1464eff"/>
          <a:stretch xmlns:a="http://schemas.openxmlformats.org/drawingml/2006/main"/>
        </p:blipFill>
        <p:spPr>
          <a:xfrm xmlns:a="http://schemas.openxmlformats.org/drawingml/2006/main">
            <a:off x="6400800" y="836732"/>
            <a:ext cx="5048250" cy="2841387"/>
          </a:xfrm>
          <a:prstGeom xmlns:a="http://schemas.openxmlformats.org/drawingml/2006/main" prst="rect">
            <a:avLst/>
          </a:prstGeom>
        </p:spPr>
      </p:pic>
      <p:sp>
        <p:nvSpPr>
          <p:cNvPr id="8" name="cover-proof-band">
            <a:extLst xmlns:a="http://schemas.openxmlformats.org/drawingml/2006/main">
              <a:ext uri="{FF2B5EF4-FFF2-40B4-BE49-F238E27FC236}">
                <a16:creationId xmlns:a16="http://schemas.microsoft.com/office/drawing/2014/main" id="{D278FE36-E2DD-479D-984E-604C030C3EF6}"/>
              </a:ext>
            </a:extLst>
          </p:cNvPr>
          <p:cNvSpPr>
            <a:spLocks xmlns:a="http://schemas.openxmlformats.org/drawingml/2006/main" noGrp="1"/>
          </p:cNvSpPr>
          <p:nvPr/>
        </p:nvSpPr>
        <p:spPr>
          <a:xfrm xmlns:a="http://schemas.openxmlformats.org/drawingml/2006/main">
            <a:off x="6400800" y="4114800"/>
            <a:ext cx="5048250" cy="1314450"/>
          </a:xfrm>
          <a:prstGeom xmlns:a="http://schemas.openxmlformats.org/drawingml/2006/main" prst="rect">
            <a:avLst/>
          </a:prstGeom>
          <a:solidFill xmlns:a="http://schemas.openxmlformats.org/drawingml/2006/main">
            <a:srgbClr val="14243B"/>
          </a:solidFill>
          <a:ln xmlns:a="http://schemas.openxmlformats.org/drawingml/2006/main" w="0">
            <a:solidFill>
              <a:srgbClr val="14243B"/>
            </a:solidFill>
            <a:prstDash val="solid"/>
          </a:ln>
        </p:spPr>
      </p:sp>
      <p:sp>
        <p:nvSpPr>
          <p:cNvPr id="9" name="cover-proof-label">
            <a:extLst xmlns:a="http://schemas.openxmlformats.org/drawingml/2006/main">
              <a:ext uri="{FF2B5EF4-FFF2-40B4-BE49-F238E27FC236}">
                <a16:creationId xmlns:a16="http://schemas.microsoft.com/office/drawing/2014/main" id="{3035D7FF-9DB6-4451-A987-F3CF999114BA}"/>
              </a:ext>
            </a:extLst>
          </p:cNvPr>
          <p:cNvSpPr>
            <a:spLocks xmlns:a="http://schemas.openxmlformats.org/drawingml/2006/main" noGrp="1"/>
          </p:cNvSpPr>
          <p:nvPr/>
        </p:nvSpPr>
        <p:spPr>
          <a:xfrm xmlns:a="http://schemas.openxmlformats.org/drawingml/2006/main">
            <a:off x="6667500" y="430530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69C7BA"/>
                </a:solidFill>
                <a:latin typeface="Arial"/>
                <a:ea typeface="Arial"/>
                <a:cs typeface="Arial"/>
              </a:defRPr>
            </a:pPr>
            <a:r>
              <a:rPr sz="1125" b="1">
                <a:solidFill>
                  <a:srgbClr val="69C7BA"/>
                </a:solidFill>
                <a:latin typeface="Arial"/>
                <a:ea typeface="Arial"/>
                <a:cs typeface="Arial"/>
              </a:rPr>
              <a:t>WORKING BROWSER DEMO</a:t>
            </a:r>
          </a:p>
        </p:txBody>
      </p:sp>
      <p:sp>
        <p:nvSpPr>
          <p:cNvPr id="10" name="cover-proof-copy">
            <a:extLst xmlns:a="http://schemas.openxmlformats.org/drawingml/2006/main">
              <a:ext uri="{FF2B5EF4-FFF2-40B4-BE49-F238E27FC236}">
                <a16:creationId xmlns:a16="http://schemas.microsoft.com/office/drawing/2014/main" id="{F3C985D3-795E-4F19-B426-70D42EC8B2F4}"/>
              </a:ext>
            </a:extLst>
          </p:cNvPr>
          <p:cNvSpPr>
            <a:spLocks xmlns:a="http://schemas.openxmlformats.org/drawingml/2006/main" noGrp="1"/>
          </p:cNvSpPr>
          <p:nvPr/>
        </p:nvSpPr>
        <p:spPr>
          <a:xfrm xmlns:a="http://schemas.openxmlformats.org/drawingml/2006/main">
            <a:off x="6667500" y="4686300"/>
            <a:ext cx="447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927"/>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Same trained weights.</a:t>
            </a:r>
          </a:p>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No external prediction API.</a:t>
            </a:r>
          </a:p>
        </p:txBody>
      </p:sp>
      <p:sp>
        <p:nvSpPr>
          <p:cNvPr id="11" name="cover-footer">
            <a:extLst xmlns:a="http://schemas.openxmlformats.org/drawingml/2006/main">
              <a:ext uri="{FF2B5EF4-FFF2-40B4-BE49-F238E27FC236}">
                <a16:creationId xmlns:a16="http://schemas.microsoft.com/office/drawing/2014/main" id="{D87EFAE4-AEC8-42CF-B36F-EC81D08C6CFE}"/>
              </a:ext>
            </a:extLst>
          </p:cNvPr>
          <p:cNvSpPr>
            <a:spLocks xmlns:a="http://schemas.openxmlformats.org/drawingml/2006/main" noGrp="1"/>
          </p:cNvSpPr>
          <p:nvPr/>
        </p:nvSpPr>
        <p:spPr>
          <a:xfrm xmlns:a="http://schemas.openxmlformats.org/drawingml/2006/main">
            <a:off x="609600" y="61722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0">
                <a:solidFill>
                  <a:srgbClr val="536174"/>
                </a:solidFill>
                <a:latin typeface="Arial"/>
                <a:ea typeface="Arial"/>
                <a:cs typeface="Arial"/>
              </a:defRPr>
            </a:pPr>
            <a:r>
              <a:rPr sz="1050" b="0">
                <a:solidFill>
                  <a:srgbClr val="536174"/>
                </a:solidFill>
                <a:latin typeface="Arial"/>
                <a:ea typeface="Arial"/>
                <a:cs typeface="Arial"/>
              </a:rPr>
              <a:t>Group presentation</a:t>
            </a:r>
          </a:p>
        </p:txBody>
      </p:sp>
    </p:spTree>
    <p:extLst>
      <p:ext uri="{BB962C8B-B14F-4D97-AF65-F5344CB8AC3E}">
        <p14:creationId xmlns:p14="http://schemas.microsoft.com/office/powerpoint/2010/main" val="19854569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lide-2-title">
            <a:extLst xmlns:a="http://schemas.openxmlformats.org/drawingml/2006/main">
              <a:ext uri="{FF2B5EF4-FFF2-40B4-BE49-F238E27FC236}">
                <a16:creationId xmlns:a16="http://schemas.microsoft.com/office/drawing/2014/main" id="{02DEFD0B-9A94-4A65-9C42-E81BEF37D8AD}"/>
              </a:ext>
            </a:extLst>
          </p:cNvPr>
          <p:cNvSpPr>
            <a:spLocks xmlns:a="http://schemas.openxmlformats.org/drawingml/2006/main" noGrp="1"/>
          </p:cNvSpPr>
          <p:nvPr/>
        </p:nvSpPr>
        <p:spPr>
          <a:xfrm xmlns:a="http://schemas.openxmlformats.org/drawingml/2006/main">
            <a:off x="514350" y="381000"/>
            <a:ext cx="10572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150" b="1">
                <a:solidFill>
                  <a:srgbClr val="14243B"/>
                </a:solidFill>
                <a:latin typeface="Arial"/>
                <a:ea typeface="Arial"/>
                <a:cs typeface="Arial"/>
              </a:defRPr>
            </a:pPr>
            <a:r>
              <a:rPr sz="3150" b="1">
                <a:solidFill>
                  <a:srgbClr val="14243B"/>
                </a:solidFill>
                <a:latin typeface="Arial"/>
                <a:ea typeface="Arial"/>
                <a:cs typeface="Arial"/>
              </a:rPr>
              <a:t>A simple question becomes a complete NLP pipeline</a:t>
            </a:r>
          </a:p>
        </p:txBody>
      </p:sp>
      <p:sp>
        <p:nvSpPr>
          <p:cNvPr id="2" name="slide-2-number">
            <a:extLst xmlns:a="http://schemas.openxmlformats.org/drawingml/2006/main">
              <a:ext uri="{FF2B5EF4-FFF2-40B4-BE49-F238E27FC236}">
                <a16:creationId xmlns:a16="http://schemas.microsoft.com/office/drawing/2014/main" id="{88F335B6-230A-4201-A535-87EBF90D245C}"/>
              </a:ext>
            </a:extLst>
          </p:cNvPr>
          <p:cNvSpPr>
            <a:spLocks xmlns:a="http://schemas.openxmlformats.org/drawingml/2006/main" noGrp="1"/>
          </p:cNvSpPr>
          <p:nvPr/>
        </p:nvSpPr>
        <p:spPr>
          <a:xfrm xmlns:a="http://schemas.openxmlformats.org/drawingml/2006/main">
            <a:off x="11191875" y="62293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66667"/>
          </a:bodyPr>
          <a:lstStyle xmlns:a="http://schemas.openxmlformats.org/drawingml/2006/main"/>
          <a:p xmlns:a="http://schemas.openxmlformats.org/drawingml/2006/main">
            <a:pPr algn="r">
              <a:defRPr sz="975" b="0">
                <a:solidFill>
                  <a:srgbClr val="536174"/>
                </a:solidFill>
                <a:latin typeface="Arial"/>
                <a:ea typeface="Arial"/>
                <a:cs typeface="Arial"/>
              </a:defRPr>
            </a:pPr>
            <a:r>
              <a:rPr sz="975" b="0">
                <a:solidFill>
                  <a:srgbClr val="536174"/>
                </a:solidFill>
                <a:latin typeface="Arial"/>
                <a:ea typeface="Arial"/>
                <a:cs typeface="Arial"/>
              </a:rPr>
              <a:t>02</a:t>
            </a:r>
          </a:p>
        </p:txBody>
      </p:sp>
      <p:sp>
        <p:nvSpPr>
          <p:cNvPr id="3" name="pipeline-thesis">
            <a:extLst xmlns:a="http://schemas.openxmlformats.org/drawingml/2006/main">
              <a:ext uri="{FF2B5EF4-FFF2-40B4-BE49-F238E27FC236}">
                <a16:creationId xmlns:a16="http://schemas.microsoft.com/office/drawing/2014/main" id="{30A67F4C-2769-4037-9F62-22BEC6B2901A}"/>
              </a:ext>
            </a:extLst>
          </p:cNvPr>
          <p:cNvSpPr>
            <a:spLocks xmlns:a="http://schemas.openxmlformats.org/drawingml/2006/main" noGrp="1"/>
          </p:cNvSpPr>
          <p:nvPr/>
        </p:nvSpPr>
        <p:spPr>
          <a:xfrm xmlns:a="http://schemas.openxmlformats.org/drawingml/2006/main">
            <a:off x="523875" y="1619250"/>
            <a:ext cx="4857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p xmlns:a="http://schemas.openxmlformats.org/drawingml/2006/main">
            <a:pPr algn="l">
              <a:defRPr sz="2250" b="1">
                <a:solidFill>
                  <a:srgbClr val="14243B"/>
                </a:solidFill>
                <a:latin typeface="Arial"/>
                <a:ea typeface="Arial"/>
                <a:cs typeface="Arial"/>
              </a:defRPr>
            </a:pPr>
            <a:r>
              <a:rPr sz="2250" b="1">
                <a:solidFill>
                  <a:srgbClr val="14243B"/>
                </a:solidFill>
                <a:latin typeface="Arial"/>
                <a:ea typeface="Arial"/>
                <a:cs typeface="Arial"/>
              </a:rPr>
              <a:t>Can a short product review be classified reliably as positive or negative?</a:t>
            </a:r>
          </a:p>
        </p:txBody>
      </p:sp>
      <p:sp>
        <p:nvSpPr>
          <p:cNvPr id="4" name="pipeline-detail">
            <a:extLst xmlns:a="http://schemas.openxmlformats.org/drawingml/2006/main">
              <a:ext uri="{FF2B5EF4-FFF2-40B4-BE49-F238E27FC236}">
                <a16:creationId xmlns:a16="http://schemas.microsoft.com/office/drawing/2014/main" id="{402A3C0C-8AF9-488F-A4C1-7D3430C590DC}"/>
              </a:ext>
            </a:extLst>
          </p:cNvPr>
          <p:cNvSpPr>
            <a:spLocks xmlns:a="http://schemas.openxmlformats.org/drawingml/2006/main" noGrp="1"/>
          </p:cNvSpPr>
          <p:nvPr/>
        </p:nvSpPr>
        <p:spPr>
          <a:xfrm xmlns:a="http://schemas.openxmlformats.org/drawingml/2006/main">
            <a:off x="523875" y="2990850"/>
            <a:ext cx="49530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536174"/>
                </a:solidFill>
                <a:latin typeface="Arial"/>
                <a:ea typeface="Arial"/>
                <a:cs typeface="Arial"/>
              </a:defRPr>
            </a:pPr>
            <a:r>
              <a:rPr sz="1575" b="0">
                <a:solidFill>
                  <a:srgbClr val="536174"/>
                </a:solidFill>
                <a:latin typeface="Arial"/>
                <a:ea typeface="Arial"/>
                <a:cs typeface="Arial"/>
              </a:rPr>
              <a:t>ReviewLens connects data preparation, neural-network training, evaluation and browser inference in one working tool.</a:t>
            </a:r>
          </a:p>
        </p:txBody>
      </p:sp>
      <p:sp>
        <p:nvSpPr>
          <p:cNvPr id="5" name="pipeline-rule">
            <a:extLst xmlns:a="http://schemas.openxmlformats.org/drawingml/2006/main">
              <a:ext uri="{FF2B5EF4-FFF2-40B4-BE49-F238E27FC236}">
                <a16:creationId xmlns:a16="http://schemas.microsoft.com/office/drawing/2014/main" id="{3CF9BAB5-9613-49A4-B636-82D802DB03C7}"/>
              </a:ext>
            </a:extLst>
          </p:cNvPr>
          <p:cNvSpPr>
            <a:spLocks xmlns:a="http://schemas.openxmlformats.org/drawingml/2006/main" noGrp="1"/>
          </p:cNvSpPr>
          <p:nvPr/>
        </p:nvSpPr>
        <p:spPr>
          <a:xfrm xmlns:a="http://schemas.openxmlformats.org/drawingml/2006/main">
            <a:off x="5905500" y="1619250"/>
            <a:ext cx="19050" cy="3714750"/>
          </a:xfrm>
          <a:prstGeom xmlns:a="http://schemas.openxmlformats.org/drawingml/2006/main" prst="rect">
            <a:avLst/>
          </a:prstGeom>
          <a:solidFill xmlns:a="http://schemas.openxmlformats.org/drawingml/2006/main">
            <a:srgbClr val="D9DEDB"/>
          </a:solidFill>
          <a:ln xmlns:a="http://schemas.openxmlformats.org/drawingml/2006/main" w="0">
            <a:solidFill>
              <a:srgbClr val="D9DEDB"/>
            </a:solidFill>
            <a:prstDash val="solid"/>
          </a:ln>
        </p:spPr>
      </p:sp>
      <p:sp>
        <p:nvSpPr>
          <p:cNvPr id="6" name="bullet-1-dot">
            <a:extLst xmlns:a="http://schemas.openxmlformats.org/drawingml/2006/main">
              <a:ext uri="{FF2B5EF4-FFF2-40B4-BE49-F238E27FC236}">
                <a16:creationId xmlns:a16="http://schemas.microsoft.com/office/drawing/2014/main" id="{583A9B80-A7DD-4A6B-BC17-6A89E1303AD6}"/>
              </a:ext>
            </a:extLst>
          </p:cNvPr>
          <p:cNvSpPr>
            <a:spLocks xmlns:a="http://schemas.openxmlformats.org/drawingml/2006/main" noGrp="1"/>
          </p:cNvSpPr>
          <p:nvPr/>
        </p:nvSpPr>
        <p:spPr>
          <a:xfrm xmlns:a="http://schemas.openxmlformats.org/drawingml/2006/main">
            <a:off x="6429375" y="1695450"/>
            <a:ext cx="323850" cy="323850"/>
          </a:xfrm>
          <a:prstGeom xmlns:a="http://schemas.openxmlformats.org/drawingml/2006/main" prst="ellipse">
            <a:avLst/>
          </a:prstGeom>
          <a:solidFill xmlns:a="http://schemas.openxmlformats.org/drawingml/2006/main">
            <a:srgbClr val="087F75"/>
          </a:solidFill>
          <a:ln xmlns:a="http://schemas.openxmlformats.org/drawingml/2006/main" w="0">
            <a:solidFill>
              <a:srgbClr val="087F75"/>
            </a:solidFill>
            <a:prstDash val="solid"/>
          </a:ln>
        </p:spPr>
      </p:sp>
      <p:sp>
        <p:nvSpPr>
          <p:cNvPr id="7" name="bullet-1-number">
            <a:extLst xmlns:a="http://schemas.openxmlformats.org/drawingml/2006/main">
              <a:ext uri="{FF2B5EF4-FFF2-40B4-BE49-F238E27FC236}">
                <a16:creationId xmlns:a16="http://schemas.microsoft.com/office/drawing/2014/main" id="{BDE66EF8-931E-4A39-BAD7-2768593E06B9}"/>
              </a:ext>
            </a:extLst>
          </p:cNvPr>
          <p:cNvSpPr>
            <a:spLocks xmlns:a="http://schemas.openxmlformats.org/drawingml/2006/main" noGrp="1"/>
          </p:cNvSpPr>
          <p:nvPr/>
        </p:nvSpPr>
        <p:spPr>
          <a:xfrm xmlns:a="http://schemas.openxmlformats.org/drawingml/2006/main">
            <a:off x="6429375" y="171450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8" name="bullet-1-heading">
            <a:extLst xmlns:a="http://schemas.openxmlformats.org/drawingml/2006/main">
              <a:ext uri="{FF2B5EF4-FFF2-40B4-BE49-F238E27FC236}">
                <a16:creationId xmlns:a16="http://schemas.microsoft.com/office/drawing/2014/main" id="{B26090E1-E71A-4D05-A0BF-2B0AA9F2EF8A}"/>
              </a:ext>
            </a:extLst>
          </p:cNvPr>
          <p:cNvSpPr>
            <a:spLocks xmlns:a="http://schemas.openxmlformats.org/drawingml/2006/main" noGrp="1"/>
          </p:cNvSpPr>
          <p:nvPr/>
        </p:nvSpPr>
        <p:spPr>
          <a:xfrm xmlns:a="http://schemas.openxmlformats.org/drawingml/2006/main">
            <a:off x="6905625" y="1638300"/>
            <a:ext cx="428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defRPr sz="1800" b="1">
                <a:solidFill>
                  <a:srgbClr val="14243B"/>
                </a:solidFill>
                <a:latin typeface="Arial"/>
                <a:ea typeface="Arial"/>
                <a:cs typeface="Arial"/>
              </a:defRPr>
            </a:pPr>
            <a:r>
              <a:rPr sz="1800" b="1">
                <a:solidFill>
                  <a:srgbClr val="14243B"/>
                </a:solidFill>
                <a:latin typeface="Arial"/>
                <a:ea typeface="Arial"/>
                <a:cs typeface="Arial"/>
              </a:rPr>
              <a:t>Input</a:t>
            </a:r>
          </a:p>
        </p:txBody>
      </p:sp>
      <p:sp>
        <p:nvSpPr>
          <p:cNvPr id="9" name="bullet-1-body">
            <a:extLst xmlns:a="http://schemas.openxmlformats.org/drawingml/2006/main">
              <a:ext uri="{FF2B5EF4-FFF2-40B4-BE49-F238E27FC236}">
                <a16:creationId xmlns:a16="http://schemas.microsoft.com/office/drawing/2014/main" id="{2A16AFD1-8F53-432F-9F62-92B2CAA284EE}"/>
              </a:ext>
            </a:extLst>
          </p:cNvPr>
          <p:cNvSpPr>
            <a:spLocks xmlns:a="http://schemas.openxmlformats.org/drawingml/2006/main" noGrp="1"/>
          </p:cNvSpPr>
          <p:nvPr/>
        </p:nvSpPr>
        <p:spPr>
          <a:xfrm xmlns:a="http://schemas.openxmlformats.org/drawingml/2006/main">
            <a:off x="6905625" y="2000250"/>
            <a:ext cx="4286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36174"/>
                </a:solidFill>
                <a:latin typeface="Arial"/>
                <a:ea typeface="Arial"/>
                <a:cs typeface="Arial"/>
              </a:defRPr>
            </a:pPr>
            <a:r>
              <a:rPr sz="1350" b="0">
                <a:solidFill>
                  <a:srgbClr val="536174"/>
                </a:solidFill>
                <a:latin typeface="Arial"/>
                <a:ea typeface="Arial"/>
                <a:cs typeface="Arial"/>
              </a:rPr>
              <a:t>An English Amazon product review</a:t>
            </a:r>
          </a:p>
        </p:txBody>
      </p:sp>
      <p:sp>
        <p:nvSpPr>
          <p:cNvPr id="10" name="bullet-2-dot">
            <a:extLst xmlns:a="http://schemas.openxmlformats.org/drawingml/2006/main">
              <a:ext uri="{FF2B5EF4-FFF2-40B4-BE49-F238E27FC236}">
                <a16:creationId xmlns:a16="http://schemas.microsoft.com/office/drawing/2014/main" id="{2B2D66EB-4C73-401B-BA12-843E2FDB0571}"/>
              </a:ext>
            </a:extLst>
          </p:cNvPr>
          <p:cNvSpPr>
            <a:spLocks xmlns:a="http://schemas.openxmlformats.org/drawingml/2006/main" noGrp="1"/>
          </p:cNvSpPr>
          <p:nvPr/>
        </p:nvSpPr>
        <p:spPr>
          <a:xfrm xmlns:a="http://schemas.openxmlformats.org/drawingml/2006/main">
            <a:off x="6429375" y="2914650"/>
            <a:ext cx="323850" cy="323850"/>
          </a:xfrm>
          <a:prstGeom xmlns:a="http://schemas.openxmlformats.org/drawingml/2006/main" prst="ellipse">
            <a:avLst/>
          </a:prstGeom>
          <a:solidFill xmlns:a="http://schemas.openxmlformats.org/drawingml/2006/main">
            <a:srgbClr val="087F75"/>
          </a:solidFill>
          <a:ln xmlns:a="http://schemas.openxmlformats.org/drawingml/2006/main" w="0">
            <a:solidFill>
              <a:srgbClr val="087F75"/>
            </a:solidFill>
            <a:prstDash val="solid"/>
          </a:ln>
        </p:spPr>
      </p:sp>
      <p:sp>
        <p:nvSpPr>
          <p:cNvPr id="11" name="bullet-2-number">
            <a:extLst xmlns:a="http://schemas.openxmlformats.org/drawingml/2006/main">
              <a:ext uri="{FF2B5EF4-FFF2-40B4-BE49-F238E27FC236}">
                <a16:creationId xmlns:a16="http://schemas.microsoft.com/office/drawing/2014/main" id="{5511A3DF-7C27-4D87-8930-CA8ED7BF6DF4}"/>
              </a:ext>
            </a:extLst>
          </p:cNvPr>
          <p:cNvSpPr>
            <a:spLocks xmlns:a="http://schemas.openxmlformats.org/drawingml/2006/main" noGrp="1"/>
          </p:cNvSpPr>
          <p:nvPr/>
        </p:nvSpPr>
        <p:spPr>
          <a:xfrm xmlns:a="http://schemas.openxmlformats.org/drawingml/2006/main">
            <a:off x="6429375" y="293370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12" name="bullet-2-heading">
            <a:extLst xmlns:a="http://schemas.openxmlformats.org/drawingml/2006/main">
              <a:ext uri="{FF2B5EF4-FFF2-40B4-BE49-F238E27FC236}">
                <a16:creationId xmlns:a16="http://schemas.microsoft.com/office/drawing/2014/main" id="{C4C06DBD-86BC-4385-9D5B-FAB3C4E893F2}"/>
              </a:ext>
            </a:extLst>
          </p:cNvPr>
          <p:cNvSpPr>
            <a:spLocks xmlns:a="http://schemas.openxmlformats.org/drawingml/2006/main" noGrp="1"/>
          </p:cNvSpPr>
          <p:nvPr/>
        </p:nvSpPr>
        <p:spPr>
          <a:xfrm xmlns:a="http://schemas.openxmlformats.org/drawingml/2006/main">
            <a:off x="6905625" y="2857500"/>
            <a:ext cx="428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defRPr sz="1800" b="1">
                <a:solidFill>
                  <a:srgbClr val="14243B"/>
                </a:solidFill>
                <a:latin typeface="Arial"/>
                <a:ea typeface="Arial"/>
                <a:cs typeface="Arial"/>
              </a:defRPr>
            </a:pPr>
            <a:r>
              <a:rPr sz="1800" b="1">
                <a:solidFill>
                  <a:srgbClr val="14243B"/>
                </a:solidFill>
                <a:latin typeface="Arial"/>
                <a:ea typeface="Arial"/>
                <a:cs typeface="Arial"/>
              </a:rPr>
              <a:t>Model</a:t>
            </a:r>
          </a:p>
        </p:txBody>
      </p:sp>
      <p:sp>
        <p:nvSpPr>
          <p:cNvPr id="13" name="bullet-2-body">
            <a:extLst xmlns:a="http://schemas.openxmlformats.org/drawingml/2006/main">
              <a:ext uri="{FF2B5EF4-FFF2-40B4-BE49-F238E27FC236}">
                <a16:creationId xmlns:a16="http://schemas.microsoft.com/office/drawing/2014/main" id="{D406D121-CC8D-4C04-8622-580FBF7CAA84}"/>
              </a:ext>
            </a:extLst>
          </p:cNvPr>
          <p:cNvSpPr>
            <a:spLocks xmlns:a="http://schemas.openxmlformats.org/drawingml/2006/main" noGrp="1"/>
          </p:cNvSpPr>
          <p:nvPr/>
        </p:nvSpPr>
        <p:spPr>
          <a:xfrm xmlns:a="http://schemas.openxmlformats.org/drawingml/2006/main">
            <a:off x="6905625" y="3219450"/>
            <a:ext cx="4286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36174"/>
                </a:solidFill>
                <a:latin typeface="Arial"/>
                <a:ea typeface="Arial"/>
                <a:cs typeface="Arial"/>
              </a:defRPr>
            </a:pPr>
            <a:r>
              <a:rPr sz="1350" b="0">
                <a:solidFill>
                  <a:srgbClr val="536174"/>
                </a:solidFill>
                <a:latin typeface="Arial"/>
                <a:ea typeface="Arial"/>
                <a:cs typeface="Arial"/>
              </a:rPr>
              <a:t>Clean, encode and run the trained neural network</a:t>
            </a:r>
          </a:p>
        </p:txBody>
      </p:sp>
      <p:sp>
        <p:nvSpPr>
          <p:cNvPr id="14" name="bullet-3-dot">
            <a:extLst xmlns:a="http://schemas.openxmlformats.org/drawingml/2006/main">
              <a:ext uri="{FF2B5EF4-FFF2-40B4-BE49-F238E27FC236}">
                <a16:creationId xmlns:a16="http://schemas.microsoft.com/office/drawing/2014/main" id="{6C29458A-4C01-4FDC-B2FD-984E89218DD8}"/>
              </a:ext>
            </a:extLst>
          </p:cNvPr>
          <p:cNvSpPr>
            <a:spLocks xmlns:a="http://schemas.openxmlformats.org/drawingml/2006/main" noGrp="1"/>
          </p:cNvSpPr>
          <p:nvPr/>
        </p:nvSpPr>
        <p:spPr>
          <a:xfrm xmlns:a="http://schemas.openxmlformats.org/drawingml/2006/main">
            <a:off x="6429375" y="4133850"/>
            <a:ext cx="323850" cy="323850"/>
          </a:xfrm>
          <a:prstGeom xmlns:a="http://schemas.openxmlformats.org/drawingml/2006/main" prst="ellipse">
            <a:avLst/>
          </a:prstGeom>
          <a:solidFill xmlns:a="http://schemas.openxmlformats.org/drawingml/2006/main">
            <a:srgbClr val="087F75"/>
          </a:solidFill>
          <a:ln xmlns:a="http://schemas.openxmlformats.org/drawingml/2006/main" w="0">
            <a:solidFill>
              <a:srgbClr val="087F75"/>
            </a:solidFill>
            <a:prstDash val="solid"/>
          </a:ln>
        </p:spPr>
      </p:sp>
      <p:sp>
        <p:nvSpPr>
          <p:cNvPr id="15" name="bullet-3-number">
            <a:extLst xmlns:a="http://schemas.openxmlformats.org/drawingml/2006/main">
              <a:ext uri="{FF2B5EF4-FFF2-40B4-BE49-F238E27FC236}">
                <a16:creationId xmlns:a16="http://schemas.microsoft.com/office/drawing/2014/main" id="{0DDE7C0C-4776-4E8E-AAEB-0402E1B7C762}"/>
              </a:ext>
            </a:extLst>
          </p:cNvPr>
          <p:cNvSpPr>
            <a:spLocks xmlns:a="http://schemas.openxmlformats.org/drawingml/2006/main" noGrp="1"/>
          </p:cNvSpPr>
          <p:nvPr/>
        </p:nvSpPr>
        <p:spPr>
          <a:xfrm xmlns:a="http://schemas.openxmlformats.org/drawingml/2006/main">
            <a:off x="6429375" y="415290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16" name="bullet-3-heading">
            <a:extLst xmlns:a="http://schemas.openxmlformats.org/drawingml/2006/main">
              <a:ext uri="{FF2B5EF4-FFF2-40B4-BE49-F238E27FC236}">
                <a16:creationId xmlns:a16="http://schemas.microsoft.com/office/drawing/2014/main" id="{6DAD1C2B-3C7E-4F08-A613-B015DEF32A1A}"/>
              </a:ext>
            </a:extLst>
          </p:cNvPr>
          <p:cNvSpPr>
            <a:spLocks xmlns:a="http://schemas.openxmlformats.org/drawingml/2006/main" noGrp="1"/>
          </p:cNvSpPr>
          <p:nvPr/>
        </p:nvSpPr>
        <p:spPr>
          <a:xfrm xmlns:a="http://schemas.openxmlformats.org/drawingml/2006/main">
            <a:off x="6905625" y="4076700"/>
            <a:ext cx="428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defRPr sz="1800" b="1">
                <a:solidFill>
                  <a:srgbClr val="14243B"/>
                </a:solidFill>
                <a:latin typeface="Arial"/>
                <a:ea typeface="Arial"/>
                <a:cs typeface="Arial"/>
              </a:defRPr>
            </a:pPr>
            <a:r>
              <a:rPr sz="1800" b="1">
                <a:solidFill>
                  <a:srgbClr val="14243B"/>
                </a:solidFill>
                <a:latin typeface="Arial"/>
                <a:ea typeface="Arial"/>
                <a:cs typeface="Arial"/>
              </a:rPr>
              <a:t>Output</a:t>
            </a:r>
          </a:p>
        </p:txBody>
      </p:sp>
      <p:sp>
        <p:nvSpPr>
          <p:cNvPr id="17" name="bullet-3-body">
            <a:extLst xmlns:a="http://schemas.openxmlformats.org/drawingml/2006/main">
              <a:ext uri="{FF2B5EF4-FFF2-40B4-BE49-F238E27FC236}">
                <a16:creationId xmlns:a16="http://schemas.microsoft.com/office/drawing/2014/main" id="{4167BF70-B38D-4A3E-A1A0-840A58A4166D}"/>
              </a:ext>
            </a:extLst>
          </p:cNvPr>
          <p:cNvSpPr>
            <a:spLocks xmlns:a="http://schemas.openxmlformats.org/drawingml/2006/main" noGrp="1"/>
          </p:cNvSpPr>
          <p:nvPr/>
        </p:nvSpPr>
        <p:spPr>
          <a:xfrm xmlns:a="http://schemas.openxmlformats.org/drawingml/2006/main">
            <a:off x="6905625" y="4438650"/>
            <a:ext cx="4286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36174"/>
                </a:solidFill>
                <a:latin typeface="Arial"/>
                <a:ea typeface="Arial"/>
                <a:cs typeface="Arial"/>
              </a:defRPr>
            </a:pPr>
            <a:r>
              <a:rPr sz="1350" b="0">
                <a:solidFill>
                  <a:srgbClr val="536174"/>
                </a:solidFill>
                <a:latin typeface="Arial"/>
                <a:ea typeface="Arial"/>
                <a:cs typeface="Arial"/>
              </a:rPr>
              <a:t>“Positive review” or “Negative review”</a:t>
            </a:r>
          </a:p>
        </p:txBody>
      </p:sp>
      <p:sp>
        <p:nvSpPr>
          <p:cNvPr id="18" name="privacy-callout">
            <a:extLst xmlns:a="http://schemas.openxmlformats.org/drawingml/2006/main">
              <a:ext uri="{FF2B5EF4-FFF2-40B4-BE49-F238E27FC236}">
                <a16:creationId xmlns:a16="http://schemas.microsoft.com/office/drawing/2014/main" id="{E3CA0F94-3A34-4A91-983F-B064AA60FD2E}"/>
              </a:ext>
            </a:extLst>
          </p:cNvPr>
          <p:cNvSpPr>
            <a:spLocks xmlns:a="http://schemas.openxmlformats.org/drawingml/2006/main" noGrp="1"/>
          </p:cNvSpPr>
          <p:nvPr/>
        </p:nvSpPr>
        <p:spPr>
          <a:xfrm xmlns:a="http://schemas.openxmlformats.org/drawingml/2006/main">
            <a:off x="523875" y="4953000"/>
            <a:ext cx="4953000" cy="723900"/>
          </a:xfrm>
          <a:prstGeom xmlns:a="http://schemas.openxmlformats.org/drawingml/2006/main" prst="rect">
            <a:avLst/>
          </a:prstGeom>
          <a:solidFill xmlns:a="http://schemas.openxmlformats.org/drawingml/2006/main">
            <a:srgbClr val="DCEFEB"/>
          </a:solidFill>
          <a:ln xmlns:a="http://schemas.openxmlformats.org/drawingml/2006/main" w="9525">
            <a:solidFill>
              <a:srgbClr val="087F75"/>
            </a:solidFill>
            <a:prstDash val="solid"/>
          </a:ln>
        </p:spPr>
      </p:sp>
      <p:sp>
        <p:nvSpPr>
          <p:cNvPr id="19" name="privacy-copy">
            <a:extLst xmlns:a="http://schemas.openxmlformats.org/drawingml/2006/main">
              <a:ext uri="{FF2B5EF4-FFF2-40B4-BE49-F238E27FC236}">
                <a16:creationId xmlns:a16="http://schemas.microsoft.com/office/drawing/2014/main" id="{812A00A7-C490-4C59-98FB-24527F785828}"/>
              </a:ext>
            </a:extLst>
          </p:cNvPr>
          <p:cNvSpPr>
            <a:spLocks xmlns:a="http://schemas.openxmlformats.org/drawingml/2006/main" noGrp="1"/>
          </p:cNvSpPr>
          <p:nvPr/>
        </p:nvSpPr>
        <p:spPr>
          <a:xfrm xmlns:a="http://schemas.openxmlformats.org/drawingml/2006/main">
            <a:off x="742950" y="514350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a:solidFill>
                  <a:srgbClr val="05635C"/>
                </a:solidFill>
                <a:latin typeface="Arial"/>
                <a:ea typeface="Arial"/>
                <a:cs typeface="Arial"/>
              </a:defRPr>
            </a:pPr>
            <a:r>
              <a:rPr sz="1650" b="1">
                <a:solidFill>
                  <a:srgbClr val="05635C"/>
                </a:solidFill>
                <a:latin typeface="Arial"/>
                <a:ea typeface="Arial"/>
                <a:cs typeface="Arial"/>
              </a:rPr>
              <a:t>The prediction runs locally in the browser.</a:t>
            </a:r>
          </a:p>
        </p:txBody>
      </p:sp>
    </p:spTree>
    <p:extLst>
      <p:ext uri="{BB962C8B-B14F-4D97-AF65-F5344CB8AC3E}">
        <p14:creationId xmlns:p14="http://schemas.microsoft.com/office/powerpoint/2010/main" val="43816692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slide-3-title">
            <a:extLst xmlns:a="http://schemas.openxmlformats.org/drawingml/2006/main">
              <a:ext uri="{FF2B5EF4-FFF2-40B4-BE49-F238E27FC236}">
                <a16:creationId xmlns:a16="http://schemas.microsoft.com/office/drawing/2014/main" id="{FCA2F3CD-2B34-456D-9489-7442F9B811D5}"/>
              </a:ext>
            </a:extLst>
          </p:cNvPr>
          <p:cNvSpPr>
            <a:spLocks xmlns:a="http://schemas.openxmlformats.org/drawingml/2006/main" noGrp="1"/>
          </p:cNvSpPr>
          <p:nvPr/>
        </p:nvSpPr>
        <p:spPr>
          <a:xfrm xmlns:a="http://schemas.openxmlformats.org/drawingml/2006/main">
            <a:off x="514350" y="381000"/>
            <a:ext cx="10572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150" b="1">
                <a:solidFill>
                  <a:srgbClr val="14243B"/>
                </a:solidFill>
                <a:latin typeface="Arial"/>
                <a:ea typeface="Arial"/>
                <a:cs typeface="Arial"/>
              </a:defRPr>
            </a:pPr>
            <a:r>
              <a:rPr sz="3150" b="1">
                <a:solidFill>
                  <a:srgbClr val="14243B"/>
                </a:solidFill>
                <a:latin typeface="Arial"/>
                <a:ea typeface="Arial"/>
                <a:cs typeface="Arial"/>
              </a:rPr>
              <a:t>Cleaning reduced leakage before the model learned</a:t>
            </a:r>
          </a:p>
        </p:txBody>
      </p:sp>
      <p:sp>
        <p:nvSpPr>
          <p:cNvPr id="2" name="slide-3-number">
            <a:extLst xmlns:a="http://schemas.openxmlformats.org/drawingml/2006/main">
              <a:ext uri="{FF2B5EF4-FFF2-40B4-BE49-F238E27FC236}">
                <a16:creationId xmlns:a16="http://schemas.microsoft.com/office/drawing/2014/main" id="{A7C70D24-71A1-47C2-B4AF-40A6D67EB4E4}"/>
              </a:ext>
            </a:extLst>
          </p:cNvPr>
          <p:cNvSpPr>
            <a:spLocks xmlns:a="http://schemas.openxmlformats.org/drawingml/2006/main" noGrp="1"/>
          </p:cNvSpPr>
          <p:nvPr/>
        </p:nvSpPr>
        <p:spPr>
          <a:xfrm xmlns:a="http://schemas.openxmlformats.org/drawingml/2006/main">
            <a:off x="11191875" y="62293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66667"/>
          </a:bodyPr>
          <a:lstStyle xmlns:a="http://schemas.openxmlformats.org/drawingml/2006/main"/>
          <a:p xmlns:a="http://schemas.openxmlformats.org/drawingml/2006/main">
            <a:pPr algn="r">
              <a:defRPr sz="975" b="0">
                <a:solidFill>
                  <a:srgbClr val="536174"/>
                </a:solidFill>
                <a:latin typeface="Arial"/>
                <a:ea typeface="Arial"/>
                <a:cs typeface="Arial"/>
              </a:defRPr>
            </a:pPr>
            <a:r>
              <a:rPr sz="975" b="0">
                <a:solidFill>
                  <a:srgbClr val="536174"/>
                </a:solidFill>
                <a:latin typeface="Arial"/>
                <a:ea typeface="Arial"/>
                <a:cs typeface="Arial"/>
              </a:rPr>
              <a:t>03</a:t>
            </a:r>
          </a:p>
        </p:txBody>
      </p:sp>
      <p:sp>
        <p:nvSpPr>
          <p:cNvPr id="3" name="dataset-source">
            <a:extLst xmlns:a="http://schemas.openxmlformats.org/drawingml/2006/main">
              <a:ext uri="{FF2B5EF4-FFF2-40B4-BE49-F238E27FC236}">
                <a16:creationId xmlns:a16="http://schemas.microsoft.com/office/drawing/2014/main" id="{6141C56F-19E9-419A-B301-2A6D96E27D60}"/>
              </a:ext>
            </a:extLst>
          </p:cNvPr>
          <p:cNvSpPr>
            <a:spLocks xmlns:a="http://schemas.openxmlformats.org/drawingml/2006/main" noGrp="1"/>
          </p:cNvSpPr>
          <p:nvPr/>
        </p:nvSpPr>
        <p:spPr>
          <a:xfrm xmlns:a="http://schemas.openxmlformats.org/drawingml/2006/main">
            <a:off x="571500" y="1447800"/>
            <a:ext cx="228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028"/>
          </a:bodyPr>
          <a:lstStyle xmlns:a="http://schemas.openxmlformats.org/drawingml/2006/main"/>
          <a:p xmlns:a="http://schemas.openxmlformats.org/drawingml/2006/main">
            <a:pPr algn="l">
              <a:defRPr sz="3600" b="1">
                <a:solidFill>
                  <a:srgbClr val="05635C"/>
                </a:solidFill>
                <a:latin typeface="Arial"/>
                <a:ea typeface="Arial"/>
                <a:cs typeface="Arial"/>
              </a:defRPr>
            </a:pPr>
            <a:r>
              <a:rPr sz="3600" b="1">
                <a:solidFill>
                  <a:srgbClr val="05635C"/>
                </a:solidFill>
                <a:latin typeface="Arial"/>
                <a:ea typeface="Arial"/>
                <a:cs typeface="Arial"/>
              </a:rPr>
              <a:t>8,000</a:t>
            </a:r>
          </a:p>
        </p:txBody>
      </p:sp>
      <p:sp>
        <p:nvSpPr>
          <p:cNvPr id="4" name="dataset-source-label">
            <a:extLst xmlns:a="http://schemas.openxmlformats.org/drawingml/2006/main">
              <a:ext uri="{FF2B5EF4-FFF2-40B4-BE49-F238E27FC236}">
                <a16:creationId xmlns:a16="http://schemas.microsoft.com/office/drawing/2014/main" id="{E0B5C0F4-CBD4-4255-81AD-7C1488B12EDC}"/>
              </a:ext>
            </a:extLst>
          </p:cNvPr>
          <p:cNvSpPr>
            <a:spLocks xmlns:a="http://schemas.openxmlformats.org/drawingml/2006/main" noGrp="1"/>
          </p:cNvSpPr>
          <p:nvPr/>
        </p:nvSpPr>
        <p:spPr>
          <a:xfrm xmlns:a="http://schemas.openxmlformats.org/drawingml/2006/main">
            <a:off x="571500" y="20193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36174"/>
                </a:solidFill>
                <a:latin typeface="Arial"/>
                <a:ea typeface="Arial"/>
                <a:cs typeface="Arial"/>
              </a:defRPr>
            </a:pPr>
            <a:r>
              <a:rPr sz="1500" b="0">
                <a:solidFill>
                  <a:srgbClr val="536174"/>
                </a:solidFill>
                <a:latin typeface="Arial"/>
                <a:ea typeface="Arial"/>
                <a:cs typeface="Arial"/>
              </a:rPr>
              <a:t>labelled reviews · 4 domains</a:t>
            </a:r>
          </a:p>
        </p:txBody>
      </p:sp>
      <p:sp>
        <p:nvSpPr>
          <p:cNvPr id="5" name="dataset-kept">
            <a:extLst xmlns:a="http://schemas.openxmlformats.org/drawingml/2006/main">
              <a:ext uri="{FF2B5EF4-FFF2-40B4-BE49-F238E27FC236}">
                <a16:creationId xmlns:a16="http://schemas.microsoft.com/office/drawing/2014/main" id="{9C5023D6-D838-474A-992A-B7CBDAC0652A}"/>
              </a:ext>
            </a:extLst>
          </p:cNvPr>
          <p:cNvSpPr>
            <a:spLocks xmlns:a="http://schemas.openxmlformats.org/drawingml/2006/main" noGrp="1"/>
          </p:cNvSpPr>
          <p:nvPr/>
        </p:nvSpPr>
        <p:spPr>
          <a:xfrm xmlns:a="http://schemas.openxmlformats.org/drawingml/2006/main">
            <a:off x="8953500" y="1447800"/>
            <a:ext cx="228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028"/>
          </a:bodyPr>
          <a:lstStyle xmlns:a="http://schemas.openxmlformats.org/drawingml/2006/main"/>
          <a:p xmlns:a="http://schemas.openxmlformats.org/drawingml/2006/main">
            <a:pPr algn="l">
              <a:defRPr sz="3600" b="1">
                <a:solidFill>
                  <a:srgbClr val="14243B"/>
                </a:solidFill>
                <a:latin typeface="Arial"/>
                <a:ea typeface="Arial"/>
                <a:cs typeface="Arial"/>
              </a:defRPr>
            </a:pPr>
            <a:r>
              <a:rPr sz="3600" b="1">
                <a:solidFill>
                  <a:srgbClr val="14243B"/>
                </a:solidFill>
                <a:latin typeface="Arial"/>
                <a:ea typeface="Arial"/>
                <a:cs typeface="Arial"/>
              </a:rPr>
              <a:t>7,698</a:t>
            </a:r>
          </a:p>
        </p:txBody>
      </p:sp>
      <p:sp>
        <p:nvSpPr>
          <p:cNvPr id="6" name="dataset-kept-label">
            <a:extLst xmlns:a="http://schemas.openxmlformats.org/drawingml/2006/main">
              <a:ext uri="{FF2B5EF4-FFF2-40B4-BE49-F238E27FC236}">
                <a16:creationId xmlns:a16="http://schemas.microsoft.com/office/drawing/2014/main" id="{9A4139B2-5957-45CE-99CC-9F7BD4B78069}"/>
              </a:ext>
            </a:extLst>
          </p:cNvPr>
          <p:cNvSpPr>
            <a:spLocks xmlns:a="http://schemas.openxmlformats.org/drawingml/2006/main" noGrp="1"/>
          </p:cNvSpPr>
          <p:nvPr/>
        </p:nvSpPr>
        <p:spPr>
          <a:xfrm xmlns:a="http://schemas.openxmlformats.org/drawingml/2006/main">
            <a:off x="8953500" y="20193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36174"/>
                </a:solidFill>
                <a:latin typeface="Arial"/>
                <a:ea typeface="Arial"/>
                <a:cs typeface="Arial"/>
              </a:defRPr>
            </a:pPr>
            <a:r>
              <a:rPr sz="1500" b="0">
                <a:solidFill>
                  <a:srgbClr val="536174"/>
                </a:solidFill>
                <a:latin typeface="Arial"/>
                <a:ea typeface="Arial"/>
                <a:cs typeface="Arial"/>
              </a:rPr>
              <a:t>reviews retained</a:t>
            </a:r>
          </a:p>
        </p:txBody>
      </p:sp>
      <p:cxnSp>
        <p:nvCxnSpPr>
          <p:cNvPr id="39" name="data-connector-0"/>
          <p:cNvCxnSpPr/>
          <p:nvPr/>
        </p:nvCxnSpPr>
        <p:spPr>
          <a:xfrm xmlns:a="http://schemas.openxmlformats.org/drawingml/2006/main">
            <a:off x="1943100" y="3333750"/>
            <a:ext cx="838200" cy="0"/>
          </a:xfrm>
          <a:prstGeom xmlns:a="http://schemas.openxmlformats.org/drawingml/2006/main" prst="straightConnector1">
            <a:avLst/>
          </a:prstGeom>
          <a:ln xmlns:a="http://schemas.openxmlformats.org/drawingml/2006/main" w="28575">
            <a:solidFill>
              <a:srgbClr val="D9DEDB"/>
            </a:solidFill>
            <a:prstDash val="solid"/>
          </a:ln>
        </p:spPr>
      </p:cxnSp>
      <p:cxnSp>
        <p:nvCxnSpPr>
          <p:cNvPr id="40" name="data-connector-1"/>
          <p:cNvCxnSpPr/>
          <p:nvPr/>
        </p:nvCxnSpPr>
        <p:spPr>
          <a:xfrm xmlns:a="http://schemas.openxmlformats.org/drawingml/2006/main">
            <a:off x="4210050" y="3333750"/>
            <a:ext cx="838200" cy="0"/>
          </a:xfrm>
          <a:prstGeom xmlns:a="http://schemas.openxmlformats.org/drawingml/2006/main" prst="straightConnector1">
            <a:avLst/>
          </a:prstGeom>
          <a:ln xmlns:a="http://schemas.openxmlformats.org/drawingml/2006/main" w="28575">
            <a:solidFill>
              <a:srgbClr val="D9DEDB"/>
            </a:solidFill>
            <a:prstDash val="solid"/>
          </a:ln>
        </p:spPr>
      </p:cxnSp>
      <p:cxnSp>
        <p:nvCxnSpPr>
          <p:cNvPr id="41" name="data-connector-2"/>
          <p:cNvCxnSpPr/>
          <p:nvPr/>
        </p:nvCxnSpPr>
        <p:spPr>
          <a:xfrm xmlns:a="http://schemas.openxmlformats.org/drawingml/2006/main">
            <a:off x="6477000" y="3333750"/>
            <a:ext cx="838200" cy="0"/>
          </a:xfrm>
          <a:prstGeom xmlns:a="http://schemas.openxmlformats.org/drawingml/2006/main" prst="straightConnector1">
            <a:avLst/>
          </a:prstGeom>
          <a:ln xmlns:a="http://schemas.openxmlformats.org/drawingml/2006/main" w="28575">
            <a:solidFill>
              <a:srgbClr val="D9DEDB"/>
            </a:solidFill>
            <a:prstDash val="solid"/>
          </a:ln>
        </p:spPr>
      </p:cxnSp>
      <p:cxnSp>
        <p:nvCxnSpPr>
          <p:cNvPr id="42" name="data-connector-3"/>
          <p:cNvCxnSpPr/>
          <p:nvPr/>
        </p:nvCxnSpPr>
        <p:spPr>
          <a:xfrm xmlns:a="http://schemas.openxmlformats.org/drawingml/2006/main">
            <a:off x="8743950" y="3333750"/>
            <a:ext cx="838200" cy="0"/>
          </a:xfrm>
          <a:prstGeom xmlns:a="http://schemas.openxmlformats.org/drawingml/2006/main" prst="straightConnector1">
            <a:avLst/>
          </a:prstGeom>
          <a:ln xmlns:a="http://schemas.openxmlformats.org/drawingml/2006/main" w="28575">
            <a:solidFill>
              <a:srgbClr val="D9DEDB"/>
            </a:solidFill>
            <a:prstDash val="solid"/>
          </a:ln>
        </p:spPr>
      </p:cxnSp>
      <p:sp>
        <p:nvSpPr>
          <p:cNvPr id="11" name="data-node-0">
            <a:extLst xmlns:a="http://schemas.openxmlformats.org/drawingml/2006/main">
              <a:ext uri="{FF2B5EF4-FFF2-40B4-BE49-F238E27FC236}">
                <a16:creationId xmlns:a16="http://schemas.microsoft.com/office/drawing/2014/main" id="{F2FE7FAC-DFD0-48BF-8B2D-015BF1D53D2D}"/>
              </a:ext>
            </a:extLst>
          </p:cNvPr>
          <p:cNvSpPr>
            <a:spLocks xmlns:a="http://schemas.openxmlformats.org/drawingml/2006/main" noGrp="1"/>
          </p:cNvSpPr>
          <p:nvPr/>
        </p:nvSpPr>
        <p:spPr>
          <a:xfrm xmlns:a="http://schemas.openxmlformats.org/drawingml/2006/main">
            <a:off x="514350" y="2895600"/>
            <a:ext cx="1428750" cy="876300"/>
          </a:xfrm>
          <a:prstGeom xmlns:a="http://schemas.openxmlformats.org/drawingml/2006/main" prst="rect">
            <a:avLst/>
          </a:prstGeom>
          <a:solidFill xmlns:a="http://schemas.openxmlformats.org/drawingml/2006/main">
            <a:srgbClr val="F7F4ED"/>
          </a:solidFill>
          <a:ln xmlns:a="http://schemas.openxmlformats.org/drawingml/2006/main" w="9525">
            <a:solidFill>
              <a:srgbClr val="D9DEDB"/>
            </a:solidFill>
            <a:prstDash val="solid"/>
          </a:ln>
        </p:spPr>
      </p:sp>
      <p:sp>
        <p:nvSpPr>
          <p:cNvPr id="12" name="data-node-head-0">
            <a:extLst xmlns:a="http://schemas.openxmlformats.org/drawingml/2006/main">
              <a:ext uri="{FF2B5EF4-FFF2-40B4-BE49-F238E27FC236}">
                <a16:creationId xmlns:a16="http://schemas.microsoft.com/office/drawing/2014/main" id="{B6C827A2-6D81-4EAA-8D62-868EDD8A7D60}"/>
              </a:ext>
            </a:extLst>
          </p:cNvPr>
          <p:cNvSpPr>
            <a:spLocks xmlns:a="http://schemas.openxmlformats.org/drawingml/2006/main" noGrp="1"/>
          </p:cNvSpPr>
          <p:nvPr/>
        </p:nvSpPr>
        <p:spPr>
          <a:xfrm xmlns:a="http://schemas.openxmlformats.org/drawingml/2006/main">
            <a:off x="628650" y="3028950"/>
            <a:ext cx="120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016"/>
          </a:bodyPr>
          <a:lstStyle xmlns:a="http://schemas.openxmlformats.org/drawingml/2006/main"/>
          <a:p xmlns:a="http://schemas.openxmlformats.org/drawingml/2006/main">
            <a:pPr algn="ctr">
              <a:defRPr sz="1575" b="1">
                <a:solidFill>
                  <a:srgbClr val="14243B"/>
                </a:solidFill>
                <a:latin typeface="Arial"/>
                <a:ea typeface="Arial"/>
                <a:cs typeface="Arial"/>
              </a:defRPr>
            </a:pPr>
            <a:r>
              <a:rPr sz="1575" b="1">
                <a:solidFill>
                  <a:srgbClr val="14243B"/>
                </a:solidFill>
                <a:latin typeface="Arial"/>
                <a:ea typeface="Arial"/>
                <a:cs typeface="Arial"/>
              </a:rPr>
              <a:t>Load</a:t>
            </a:r>
          </a:p>
        </p:txBody>
      </p:sp>
      <p:sp>
        <p:nvSpPr>
          <p:cNvPr id="13" name="data-node-body-0">
            <a:extLst xmlns:a="http://schemas.openxmlformats.org/drawingml/2006/main">
              <a:ext uri="{FF2B5EF4-FFF2-40B4-BE49-F238E27FC236}">
                <a16:creationId xmlns:a16="http://schemas.microsoft.com/office/drawing/2014/main" id="{DF79D859-A3F0-411C-8BDE-DA9B386CBE20}"/>
              </a:ext>
            </a:extLst>
          </p:cNvPr>
          <p:cNvSpPr>
            <a:spLocks xmlns:a="http://schemas.openxmlformats.org/drawingml/2006/main" noGrp="1"/>
          </p:cNvSpPr>
          <p:nvPr/>
        </p:nvSpPr>
        <p:spPr>
          <a:xfrm xmlns:a="http://schemas.openxmlformats.org/drawingml/2006/main">
            <a:off x="609600" y="33337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542"/>
          </a:bodyPr>
          <a:lstStyle xmlns:a="http://schemas.openxmlformats.org/drawingml/2006/main"/>
          <a:p xmlns:a="http://schemas.openxmlformats.org/drawingml/2006/main">
            <a:pPr algn="ctr">
              <a:defRPr sz="1200" b="0">
                <a:solidFill>
                  <a:srgbClr val="536174"/>
                </a:solidFill>
                <a:latin typeface="Arial"/>
                <a:ea typeface="Arial"/>
                <a:cs typeface="Arial"/>
              </a:defRPr>
            </a:pPr>
            <a:r>
              <a:rPr sz="1200" b="0">
                <a:solidFill>
                  <a:srgbClr val="536174"/>
                </a:solidFill>
                <a:latin typeface="Arial"/>
                <a:ea typeface="Arial"/>
                <a:cs typeface="Arial"/>
              </a:rPr>
              <a:t>Positive and negative files</a:t>
            </a:r>
          </a:p>
        </p:txBody>
      </p:sp>
      <p:sp>
        <p:nvSpPr>
          <p:cNvPr id="14" name="data-node-1">
            <a:extLst xmlns:a="http://schemas.openxmlformats.org/drawingml/2006/main">
              <a:ext uri="{FF2B5EF4-FFF2-40B4-BE49-F238E27FC236}">
                <a16:creationId xmlns:a16="http://schemas.microsoft.com/office/drawing/2014/main" id="{7FFF3FF2-BDCC-41D9-B963-2F945AC7355D}"/>
              </a:ext>
            </a:extLst>
          </p:cNvPr>
          <p:cNvSpPr>
            <a:spLocks xmlns:a="http://schemas.openxmlformats.org/drawingml/2006/main" noGrp="1"/>
          </p:cNvSpPr>
          <p:nvPr/>
        </p:nvSpPr>
        <p:spPr>
          <a:xfrm xmlns:a="http://schemas.openxmlformats.org/drawingml/2006/main">
            <a:off x="2781300" y="2895600"/>
            <a:ext cx="1428750" cy="876300"/>
          </a:xfrm>
          <a:prstGeom xmlns:a="http://schemas.openxmlformats.org/drawingml/2006/main" prst="rect">
            <a:avLst/>
          </a:prstGeom>
          <a:solidFill xmlns:a="http://schemas.openxmlformats.org/drawingml/2006/main">
            <a:srgbClr val="F7F4ED"/>
          </a:solidFill>
          <a:ln xmlns:a="http://schemas.openxmlformats.org/drawingml/2006/main" w="9525">
            <a:solidFill>
              <a:srgbClr val="D9DEDB"/>
            </a:solidFill>
            <a:prstDash val="solid"/>
          </a:ln>
        </p:spPr>
      </p:sp>
      <p:sp>
        <p:nvSpPr>
          <p:cNvPr id="15" name="data-node-head-1">
            <a:extLst xmlns:a="http://schemas.openxmlformats.org/drawingml/2006/main">
              <a:ext uri="{FF2B5EF4-FFF2-40B4-BE49-F238E27FC236}">
                <a16:creationId xmlns:a16="http://schemas.microsoft.com/office/drawing/2014/main" id="{70E58DB7-AE04-4E55-8403-BA97C2ED2D5E}"/>
              </a:ext>
            </a:extLst>
          </p:cNvPr>
          <p:cNvSpPr>
            <a:spLocks xmlns:a="http://schemas.openxmlformats.org/drawingml/2006/main" noGrp="1"/>
          </p:cNvSpPr>
          <p:nvPr/>
        </p:nvSpPr>
        <p:spPr>
          <a:xfrm xmlns:a="http://schemas.openxmlformats.org/drawingml/2006/main">
            <a:off x="2895600" y="3028950"/>
            <a:ext cx="120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016"/>
          </a:bodyPr>
          <a:lstStyle xmlns:a="http://schemas.openxmlformats.org/drawingml/2006/main"/>
          <a:p xmlns:a="http://schemas.openxmlformats.org/drawingml/2006/main">
            <a:pPr algn="ctr">
              <a:defRPr sz="1575" b="1">
                <a:solidFill>
                  <a:srgbClr val="14243B"/>
                </a:solidFill>
                <a:latin typeface="Arial"/>
                <a:ea typeface="Arial"/>
                <a:cs typeface="Arial"/>
              </a:defRPr>
            </a:pPr>
            <a:r>
              <a:rPr sz="1575" b="1">
                <a:solidFill>
                  <a:srgbClr val="14243B"/>
                </a:solidFill>
                <a:latin typeface="Arial"/>
                <a:ea typeface="Arial"/>
                <a:cs typeface="Arial"/>
              </a:rPr>
              <a:t>Clean</a:t>
            </a:r>
          </a:p>
        </p:txBody>
      </p:sp>
      <p:sp>
        <p:nvSpPr>
          <p:cNvPr id="16" name="data-node-body-1">
            <a:extLst xmlns:a="http://schemas.openxmlformats.org/drawingml/2006/main">
              <a:ext uri="{FF2B5EF4-FFF2-40B4-BE49-F238E27FC236}">
                <a16:creationId xmlns:a16="http://schemas.microsoft.com/office/drawing/2014/main" id="{94FE1FC3-8A25-430A-ADB9-607F27EDE49B}"/>
              </a:ext>
            </a:extLst>
          </p:cNvPr>
          <p:cNvSpPr>
            <a:spLocks xmlns:a="http://schemas.openxmlformats.org/drawingml/2006/main" noGrp="1"/>
          </p:cNvSpPr>
          <p:nvPr/>
        </p:nvSpPr>
        <p:spPr>
          <a:xfrm xmlns:a="http://schemas.openxmlformats.org/drawingml/2006/main">
            <a:off x="2876550" y="33337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542"/>
          </a:bodyPr>
          <a:lstStyle xmlns:a="http://schemas.openxmlformats.org/drawingml/2006/main"/>
          <a:p xmlns:a="http://schemas.openxmlformats.org/drawingml/2006/main">
            <a:pPr algn="ctr">
              <a:defRPr sz="1200" b="0">
                <a:solidFill>
                  <a:srgbClr val="536174"/>
                </a:solidFill>
                <a:latin typeface="Arial"/>
                <a:ea typeface="Arial"/>
                <a:cs typeface="Arial"/>
              </a:defRPr>
            </a:pPr>
            <a:r>
              <a:rPr sz="1200" b="0">
                <a:solidFill>
                  <a:srgbClr val="536174"/>
                </a:solidFill>
                <a:latin typeface="Arial"/>
                <a:ea typeface="Arial"/>
                <a:cs typeface="Arial"/>
              </a:rPr>
              <a:t>Case, HTML, URLs and punctuation</a:t>
            </a:r>
          </a:p>
        </p:txBody>
      </p:sp>
      <p:sp>
        <p:nvSpPr>
          <p:cNvPr id="17" name="data-node-2">
            <a:extLst xmlns:a="http://schemas.openxmlformats.org/drawingml/2006/main">
              <a:ext uri="{FF2B5EF4-FFF2-40B4-BE49-F238E27FC236}">
                <a16:creationId xmlns:a16="http://schemas.microsoft.com/office/drawing/2014/main" id="{5FD81B32-33E6-4A8F-A3C8-C62C5C7E89EB}"/>
              </a:ext>
            </a:extLst>
          </p:cNvPr>
          <p:cNvSpPr>
            <a:spLocks xmlns:a="http://schemas.openxmlformats.org/drawingml/2006/main" noGrp="1"/>
          </p:cNvSpPr>
          <p:nvPr/>
        </p:nvSpPr>
        <p:spPr>
          <a:xfrm xmlns:a="http://schemas.openxmlformats.org/drawingml/2006/main">
            <a:off x="5048250" y="2895600"/>
            <a:ext cx="1428750" cy="876300"/>
          </a:xfrm>
          <a:prstGeom xmlns:a="http://schemas.openxmlformats.org/drawingml/2006/main" prst="rect">
            <a:avLst/>
          </a:prstGeom>
          <a:solidFill xmlns:a="http://schemas.openxmlformats.org/drawingml/2006/main">
            <a:srgbClr val="F7F4ED"/>
          </a:solidFill>
          <a:ln xmlns:a="http://schemas.openxmlformats.org/drawingml/2006/main" w="9525">
            <a:solidFill>
              <a:srgbClr val="D9DEDB"/>
            </a:solidFill>
            <a:prstDash val="solid"/>
          </a:ln>
        </p:spPr>
      </p:sp>
      <p:sp>
        <p:nvSpPr>
          <p:cNvPr id="18" name="data-node-head-2">
            <a:extLst xmlns:a="http://schemas.openxmlformats.org/drawingml/2006/main">
              <a:ext uri="{FF2B5EF4-FFF2-40B4-BE49-F238E27FC236}">
                <a16:creationId xmlns:a16="http://schemas.microsoft.com/office/drawing/2014/main" id="{A8A32B05-F387-4AD5-AB3A-1EF5B5720CCD}"/>
              </a:ext>
            </a:extLst>
          </p:cNvPr>
          <p:cNvSpPr>
            <a:spLocks xmlns:a="http://schemas.openxmlformats.org/drawingml/2006/main" noGrp="1"/>
          </p:cNvSpPr>
          <p:nvPr/>
        </p:nvSpPr>
        <p:spPr>
          <a:xfrm xmlns:a="http://schemas.openxmlformats.org/drawingml/2006/main">
            <a:off x="5162550" y="3028950"/>
            <a:ext cx="120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016"/>
          </a:bodyPr>
          <a:lstStyle xmlns:a="http://schemas.openxmlformats.org/drawingml/2006/main"/>
          <a:p xmlns:a="http://schemas.openxmlformats.org/drawingml/2006/main">
            <a:pPr algn="ctr">
              <a:defRPr sz="1575" b="1">
                <a:solidFill>
                  <a:srgbClr val="14243B"/>
                </a:solidFill>
                <a:latin typeface="Arial"/>
                <a:ea typeface="Arial"/>
                <a:cs typeface="Arial"/>
              </a:defRPr>
            </a:pPr>
            <a:r>
              <a:rPr sz="1575" b="1">
                <a:solidFill>
                  <a:srgbClr val="14243B"/>
                </a:solidFill>
                <a:latin typeface="Arial"/>
                <a:ea typeface="Arial"/>
                <a:cs typeface="Arial"/>
              </a:rPr>
              <a:t>Deduplicate</a:t>
            </a:r>
          </a:p>
        </p:txBody>
      </p:sp>
      <p:sp>
        <p:nvSpPr>
          <p:cNvPr id="19" name="data-node-body-2">
            <a:extLst xmlns:a="http://schemas.openxmlformats.org/drawingml/2006/main">
              <a:ext uri="{FF2B5EF4-FFF2-40B4-BE49-F238E27FC236}">
                <a16:creationId xmlns:a16="http://schemas.microsoft.com/office/drawing/2014/main" id="{1EFF03C4-CD76-4A36-80CD-CEF44C26BF75}"/>
              </a:ext>
            </a:extLst>
          </p:cNvPr>
          <p:cNvSpPr>
            <a:spLocks xmlns:a="http://schemas.openxmlformats.org/drawingml/2006/main" noGrp="1"/>
          </p:cNvSpPr>
          <p:nvPr/>
        </p:nvSpPr>
        <p:spPr>
          <a:xfrm xmlns:a="http://schemas.openxmlformats.org/drawingml/2006/main">
            <a:off x="5143500" y="33337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542"/>
          </a:bodyPr>
          <a:lstStyle xmlns:a="http://schemas.openxmlformats.org/drawingml/2006/main"/>
          <a:p xmlns:a="http://schemas.openxmlformats.org/drawingml/2006/main">
            <a:pPr algn="ctr">
              <a:defRPr sz="1200" b="0">
                <a:solidFill>
                  <a:srgbClr val="536174"/>
                </a:solidFill>
                <a:latin typeface="Arial"/>
                <a:ea typeface="Arial"/>
                <a:cs typeface="Arial"/>
              </a:defRPr>
            </a:pPr>
            <a:r>
              <a:rPr sz="1200" b="0">
                <a:solidFill>
                  <a:srgbClr val="536174"/>
                </a:solidFill>
                <a:latin typeface="Arial"/>
                <a:ea typeface="Arial"/>
                <a:cs typeface="Arial"/>
              </a:rPr>
              <a:t>148 exact copies removed</a:t>
            </a:r>
          </a:p>
        </p:txBody>
      </p:sp>
      <p:sp>
        <p:nvSpPr>
          <p:cNvPr id="20" name="data-node-3">
            <a:extLst xmlns:a="http://schemas.openxmlformats.org/drawingml/2006/main">
              <a:ext uri="{FF2B5EF4-FFF2-40B4-BE49-F238E27FC236}">
                <a16:creationId xmlns:a16="http://schemas.microsoft.com/office/drawing/2014/main" id="{A9ED5537-4956-47C0-AC5C-596A05784006}"/>
              </a:ext>
            </a:extLst>
          </p:cNvPr>
          <p:cNvSpPr>
            <a:spLocks xmlns:a="http://schemas.openxmlformats.org/drawingml/2006/main" noGrp="1"/>
          </p:cNvSpPr>
          <p:nvPr/>
        </p:nvSpPr>
        <p:spPr>
          <a:xfrm xmlns:a="http://schemas.openxmlformats.org/drawingml/2006/main">
            <a:off x="7315200" y="2895600"/>
            <a:ext cx="1428750" cy="876300"/>
          </a:xfrm>
          <a:prstGeom xmlns:a="http://schemas.openxmlformats.org/drawingml/2006/main" prst="rect">
            <a:avLst/>
          </a:prstGeom>
          <a:solidFill xmlns:a="http://schemas.openxmlformats.org/drawingml/2006/main">
            <a:srgbClr val="F7F4ED"/>
          </a:solidFill>
          <a:ln xmlns:a="http://schemas.openxmlformats.org/drawingml/2006/main" w="9525">
            <a:solidFill>
              <a:srgbClr val="D9DEDB"/>
            </a:solidFill>
            <a:prstDash val="solid"/>
          </a:ln>
        </p:spPr>
      </p:sp>
      <p:sp>
        <p:nvSpPr>
          <p:cNvPr id="21" name="data-node-head-3">
            <a:extLst xmlns:a="http://schemas.openxmlformats.org/drawingml/2006/main">
              <a:ext uri="{FF2B5EF4-FFF2-40B4-BE49-F238E27FC236}">
                <a16:creationId xmlns:a16="http://schemas.microsoft.com/office/drawing/2014/main" id="{E6897DE0-AE59-4800-95DE-CC16069DBCE7}"/>
              </a:ext>
            </a:extLst>
          </p:cNvPr>
          <p:cNvSpPr>
            <a:spLocks xmlns:a="http://schemas.openxmlformats.org/drawingml/2006/main" noGrp="1"/>
          </p:cNvSpPr>
          <p:nvPr/>
        </p:nvSpPr>
        <p:spPr>
          <a:xfrm xmlns:a="http://schemas.openxmlformats.org/drawingml/2006/main">
            <a:off x="7429500" y="3028950"/>
            <a:ext cx="120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016"/>
          </a:bodyPr>
          <a:lstStyle xmlns:a="http://schemas.openxmlformats.org/drawingml/2006/main"/>
          <a:p xmlns:a="http://schemas.openxmlformats.org/drawingml/2006/main">
            <a:pPr algn="ctr">
              <a:defRPr sz="1575" b="1">
                <a:solidFill>
                  <a:srgbClr val="14243B"/>
                </a:solidFill>
                <a:latin typeface="Arial"/>
                <a:ea typeface="Arial"/>
                <a:cs typeface="Arial"/>
              </a:defRPr>
            </a:pPr>
            <a:r>
              <a:rPr sz="1575" b="1">
                <a:solidFill>
                  <a:srgbClr val="14243B"/>
                </a:solidFill>
                <a:latin typeface="Arial"/>
                <a:ea typeface="Arial"/>
                <a:cs typeface="Arial"/>
              </a:rPr>
              <a:t>Filter</a:t>
            </a:r>
          </a:p>
        </p:txBody>
      </p:sp>
      <p:sp>
        <p:nvSpPr>
          <p:cNvPr id="22" name="data-node-body-3">
            <a:extLst xmlns:a="http://schemas.openxmlformats.org/drawingml/2006/main">
              <a:ext uri="{FF2B5EF4-FFF2-40B4-BE49-F238E27FC236}">
                <a16:creationId xmlns:a16="http://schemas.microsoft.com/office/drawing/2014/main" id="{DA598EFC-54A0-418A-BC22-4F4629CEC756}"/>
              </a:ext>
            </a:extLst>
          </p:cNvPr>
          <p:cNvSpPr>
            <a:spLocks xmlns:a="http://schemas.openxmlformats.org/drawingml/2006/main" noGrp="1"/>
          </p:cNvSpPr>
          <p:nvPr/>
        </p:nvSpPr>
        <p:spPr>
          <a:xfrm xmlns:a="http://schemas.openxmlformats.org/drawingml/2006/main">
            <a:off x="7410450" y="33337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542"/>
          </a:bodyPr>
          <a:lstStyle xmlns:a="http://schemas.openxmlformats.org/drawingml/2006/main"/>
          <a:p xmlns:a="http://schemas.openxmlformats.org/drawingml/2006/main">
            <a:pPr algn="ctr">
              <a:defRPr sz="1200" b="0">
                <a:solidFill>
                  <a:srgbClr val="536174"/>
                </a:solidFill>
                <a:latin typeface="Arial"/>
                <a:ea typeface="Arial"/>
                <a:cs typeface="Arial"/>
              </a:defRPr>
            </a:pPr>
            <a:r>
              <a:rPr sz="1200" b="0">
                <a:solidFill>
                  <a:srgbClr val="536174"/>
                </a:solidFill>
                <a:latin typeface="Arial"/>
                <a:ea typeface="Arial"/>
                <a:cs typeface="Arial"/>
              </a:rPr>
              <a:t>154 length outliers removed</a:t>
            </a:r>
          </a:p>
        </p:txBody>
      </p:sp>
      <p:sp>
        <p:nvSpPr>
          <p:cNvPr id="23" name="data-node-4">
            <a:extLst xmlns:a="http://schemas.openxmlformats.org/drawingml/2006/main">
              <a:ext uri="{FF2B5EF4-FFF2-40B4-BE49-F238E27FC236}">
                <a16:creationId xmlns:a16="http://schemas.microsoft.com/office/drawing/2014/main" id="{00BCD1A4-F190-4F34-A36E-B87D3DD76297}"/>
              </a:ext>
            </a:extLst>
          </p:cNvPr>
          <p:cNvSpPr>
            <a:spLocks xmlns:a="http://schemas.openxmlformats.org/drawingml/2006/main" noGrp="1"/>
          </p:cNvSpPr>
          <p:nvPr/>
        </p:nvSpPr>
        <p:spPr>
          <a:xfrm xmlns:a="http://schemas.openxmlformats.org/drawingml/2006/main">
            <a:off x="9582150" y="2895600"/>
            <a:ext cx="1428750" cy="876300"/>
          </a:xfrm>
          <a:prstGeom xmlns:a="http://schemas.openxmlformats.org/drawingml/2006/main" prst="rect">
            <a:avLst/>
          </a:prstGeom>
          <a:solidFill xmlns:a="http://schemas.openxmlformats.org/drawingml/2006/main">
            <a:srgbClr val="087F75"/>
          </a:solidFill>
          <a:ln xmlns:a="http://schemas.openxmlformats.org/drawingml/2006/main" w="9525">
            <a:solidFill>
              <a:srgbClr val="087F75"/>
            </a:solidFill>
            <a:prstDash val="solid"/>
          </a:ln>
        </p:spPr>
      </p:sp>
      <p:sp>
        <p:nvSpPr>
          <p:cNvPr id="24" name="data-node-head-4">
            <a:extLst xmlns:a="http://schemas.openxmlformats.org/drawingml/2006/main">
              <a:ext uri="{FF2B5EF4-FFF2-40B4-BE49-F238E27FC236}">
                <a16:creationId xmlns:a16="http://schemas.microsoft.com/office/drawing/2014/main" id="{7C64DA22-371F-48D2-9F1A-FBF5F4650773}"/>
              </a:ext>
            </a:extLst>
          </p:cNvPr>
          <p:cNvSpPr>
            <a:spLocks xmlns:a="http://schemas.openxmlformats.org/drawingml/2006/main" noGrp="1"/>
          </p:cNvSpPr>
          <p:nvPr/>
        </p:nvSpPr>
        <p:spPr>
          <a:xfrm xmlns:a="http://schemas.openxmlformats.org/drawingml/2006/main">
            <a:off x="9696450" y="3028950"/>
            <a:ext cx="120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016"/>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Split</a:t>
            </a:r>
          </a:p>
        </p:txBody>
      </p:sp>
      <p:sp>
        <p:nvSpPr>
          <p:cNvPr id="25" name="data-node-body-4">
            <a:extLst xmlns:a="http://schemas.openxmlformats.org/drawingml/2006/main">
              <a:ext uri="{FF2B5EF4-FFF2-40B4-BE49-F238E27FC236}">
                <a16:creationId xmlns:a16="http://schemas.microsoft.com/office/drawing/2014/main" id="{9B614705-9490-4664-855B-8052AD46CE93}"/>
              </a:ext>
            </a:extLst>
          </p:cNvPr>
          <p:cNvSpPr>
            <a:spLocks xmlns:a="http://schemas.openxmlformats.org/drawingml/2006/main" noGrp="1"/>
          </p:cNvSpPr>
          <p:nvPr/>
        </p:nvSpPr>
        <p:spPr>
          <a:xfrm xmlns:a="http://schemas.openxmlformats.org/drawingml/2006/main">
            <a:off x="9677400" y="33337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178"/>
          </a:bodyPr>
          <a:lstStyle xmlns:a="http://schemas.openxmlformats.org/drawingml/2006/main"/>
          <a:p xmlns:a="http://schemas.openxmlformats.org/drawingml/2006/main">
            <a:pPr algn="ctr">
              <a:defRPr sz="1200" b="0">
                <a:solidFill>
                  <a:srgbClr val="FFFFFF"/>
                </a:solidFill>
                <a:latin typeface="Arial"/>
                <a:ea typeface="Arial"/>
                <a:cs typeface="Arial"/>
              </a:defRPr>
            </a:pPr>
            <a:r>
              <a:rPr sz="1200" b="0">
                <a:solidFill>
                  <a:srgbClr val="FFFFFF"/>
                </a:solidFill>
                <a:latin typeface="Arial"/>
                <a:ea typeface="Arial"/>
                <a:cs typeface="Arial"/>
              </a:rPr>
              <a:t>Train · validation · test</a:t>
            </a:r>
          </a:p>
        </p:txBody>
      </p:sp>
      <p:sp>
        <p:nvSpPr>
          <p:cNvPr id="26" name="split-band">
            <a:extLst xmlns:a="http://schemas.openxmlformats.org/drawingml/2006/main">
              <a:ext uri="{FF2B5EF4-FFF2-40B4-BE49-F238E27FC236}">
                <a16:creationId xmlns:a16="http://schemas.microsoft.com/office/drawing/2014/main" id="{4E59F633-C512-450A-A8FB-228CEB1D7141}"/>
              </a:ext>
            </a:extLst>
          </p:cNvPr>
          <p:cNvSpPr>
            <a:spLocks xmlns:a="http://schemas.openxmlformats.org/drawingml/2006/main" noGrp="1"/>
          </p:cNvSpPr>
          <p:nvPr/>
        </p:nvSpPr>
        <p:spPr>
          <a:xfrm xmlns:a="http://schemas.openxmlformats.org/drawingml/2006/main">
            <a:off x="514350" y="4552950"/>
            <a:ext cx="10496550" cy="933450"/>
          </a:xfrm>
          <a:prstGeom xmlns:a="http://schemas.openxmlformats.org/drawingml/2006/main" prst="rect">
            <a:avLst/>
          </a:prstGeom>
          <a:solidFill xmlns:a="http://schemas.openxmlformats.org/drawingml/2006/main">
            <a:srgbClr val="14243B"/>
          </a:solidFill>
          <a:ln xmlns:a="http://schemas.openxmlformats.org/drawingml/2006/main" w="0">
            <a:solidFill>
              <a:srgbClr val="14243B"/>
            </a:solidFill>
            <a:prstDash val="solid"/>
          </a:ln>
        </p:spPr>
      </p:sp>
      <p:sp>
        <p:nvSpPr>
          <p:cNvPr id="27" name="split-value-0">
            <a:extLst xmlns:a="http://schemas.openxmlformats.org/drawingml/2006/main">
              <a:ext uri="{FF2B5EF4-FFF2-40B4-BE49-F238E27FC236}">
                <a16:creationId xmlns:a16="http://schemas.microsoft.com/office/drawing/2014/main" id="{78F58305-47F2-452C-8903-9088F589E368}"/>
              </a:ext>
            </a:extLst>
          </p:cNvPr>
          <p:cNvSpPr>
            <a:spLocks xmlns:a="http://schemas.openxmlformats.org/drawingml/2006/main" noGrp="1"/>
          </p:cNvSpPr>
          <p:nvPr/>
        </p:nvSpPr>
        <p:spPr>
          <a:xfrm xmlns:a="http://schemas.openxmlformats.org/drawingml/2006/main">
            <a:off x="904875" y="46863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889"/>
          </a:bodyPr>
          <a:lstStyle xmlns:a="http://schemas.openxmlformats.org/drawingml/2006/main"/>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5,388</a:t>
            </a:r>
          </a:p>
        </p:txBody>
      </p:sp>
      <p:sp>
        <p:nvSpPr>
          <p:cNvPr id="28" name="split-label-0">
            <a:extLst xmlns:a="http://schemas.openxmlformats.org/drawingml/2006/main">
              <a:ext uri="{FF2B5EF4-FFF2-40B4-BE49-F238E27FC236}">
                <a16:creationId xmlns:a16="http://schemas.microsoft.com/office/drawing/2014/main" id="{7009F105-27D8-42DE-9422-1673E1732399}"/>
              </a:ext>
            </a:extLst>
          </p:cNvPr>
          <p:cNvSpPr>
            <a:spLocks xmlns:a="http://schemas.openxmlformats.org/drawingml/2006/main" noGrp="1"/>
          </p:cNvSpPr>
          <p:nvPr/>
        </p:nvSpPr>
        <p:spPr>
          <a:xfrm xmlns:a="http://schemas.openxmlformats.org/drawingml/2006/main">
            <a:off x="904875" y="50863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ctr">
              <a:defRPr sz="1275" b="0">
                <a:solidFill>
                  <a:srgbClr val="B8C2CF"/>
                </a:solidFill>
                <a:latin typeface="Arial"/>
                <a:ea typeface="Arial"/>
                <a:cs typeface="Arial"/>
              </a:defRPr>
            </a:pPr>
            <a:r>
              <a:rPr sz="1275" b="0">
                <a:solidFill>
                  <a:srgbClr val="B8C2CF"/>
                </a:solidFill>
                <a:latin typeface="Arial"/>
                <a:ea typeface="Arial"/>
                <a:cs typeface="Arial"/>
              </a:rPr>
              <a:t>training</a:t>
            </a:r>
          </a:p>
        </p:txBody>
      </p:sp>
      <p:sp>
        <p:nvSpPr>
          <p:cNvPr id="29" name="split-value-1">
            <a:extLst xmlns:a="http://schemas.openxmlformats.org/drawingml/2006/main">
              <a:ext uri="{FF2B5EF4-FFF2-40B4-BE49-F238E27FC236}">
                <a16:creationId xmlns:a16="http://schemas.microsoft.com/office/drawing/2014/main" id="{1130AB1E-95BC-4A01-BCE2-D0081AF69282}"/>
              </a:ext>
            </a:extLst>
          </p:cNvPr>
          <p:cNvSpPr>
            <a:spLocks xmlns:a="http://schemas.openxmlformats.org/drawingml/2006/main" noGrp="1"/>
          </p:cNvSpPr>
          <p:nvPr/>
        </p:nvSpPr>
        <p:spPr>
          <a:xfrm xmlns:a="http://schemas.openxmlformats.org/drawingml/2006/main">
            <a:off x="4238625" y="46863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889"/>
          </a:bodyPr>
          <a:lstStyle xmlns:a="http://schemas.openxmlformats.org/drawingml/2006/main"/>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1,153</a:t>
            </a:r>
          </a:p>
        </p:txBody>
      </p:sp>
      <p:sp>
        <p:nvSpPr>
          <p:cNvPr id="30" name="split-label-1">
            <a:extLst xmlns:a="http://schemas.openxmlformats.org/drawingml/2006/main">
              <a:ext uri="{FF2B5EF4-FFF2-40B4-BE49-F238E27FC236}">
                <a16:creationId xmlns:a16="http://schemas.microsoft.com/office/drawing/2014/main" id="{EECF7E5E-96F4-403C-9D72-6B58B3DE6709}"/>
              </a:ext>
            </a:extLst>
          </p:cNvPr>
          <p:cNvSpPr>
            <a:spLocks xmlns:a="http://schemas.openxmlformats.org/drawingml/2006/main" noGrp="1"/>
          </p:cNvSpPr>
          <p:nvPr/>
        </p:nvSpPr>
        <p:spPr>
          <a:xfrm xmlns:a="http://schemas.openxmlformats.org/drawingml/2006/main">
            <a:off x="4238625" y="50863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ctr">
              <a:defRPr sz="1275" b="0">
                <a:solidFill>
                  <a:srgbClr val="B8C2CF"/>
                </a:solidFill>
                <a:latin typeface="Arial"/>
                <a:ea typeface="Arial"/>
                <a:cs typeface="Arial"/>
              </a:defRPr>
            </a:pPr>
            <a:r>
              <a:rPr sz="1275" b="0">
                <a:solidFill>
                  <a:srgbClr val="B8C2CF"/>
                </a:solidFill>
                <a:latin typeface="Arial"/>
                <a:ea typeface="Arial"/>
                <a:cs typeface="Arial"/>
              </a:rPr>
              <a:t>validation</a:t>
            </a:r>
          </a:p>
        </p:txBody>
      </p:sp>
      <p:sp>
        <p:nvSpPr>
          <p:cNvPr id="31" name="split-value-2">
            <a:extLst xmlns:a="http://schemas.openxmlformats.org/drawingml/2006/main">
              <a:ext uri="{FF2B5EF4-FFF2-40B4-BE49-F238E27FC236}">
                <a16:creationId xmlns:a16="http://schemas.microsoft.com/office/drawing/2014/main" id="{CAA417AB-6CC8-4F53-B3B8-924DC02D898E}"/>
              </a:ext>
            </a:extLst>
          </p:cNvPr>
          <p:cNvSpPr>
            <a:spLocks xmlns:a="http://schemas.openxmlformats.org/drawingml/2006/main" noGrp="1"/>
          </p:cNvSpPr>
          <p:nvPr/>
        </p:nvSpPr>
        <p:spPr>
          <a:xfrm xmlns:a="http://schemas.openxmlformats.org/drawingml/2006/main">
            <a:off x="7572375" y="46863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889"/>
          </a:bodyPr>
          <a:lstStyle xmlns:a="http://schemas.openxmlformats.org/drawingml/2006/main"/>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1,157</a:t>
            </a:r>
          </a:p>
        </p:txBody>
      </p:sp>
      <p:sp>
        <p:nvSpPr>
          <p:cNvPr id="32" name="split-label-2">
            <a:extLst xmlns:a="http://schemas.openxmlformats.org/drawingml/2006/main">
              <a:ext uri="{FF2B5EF4-FFF2-40B4-BE49-F238E27FC236}">
                <a16:creationId xmlns:a16="http://schemas.microsoft.com/office/drawing/2014/main" id="{ACBF0F7E-7853-42B8-ADB0-1932488BBC45}"/>
              </a:ext>
            </a:extLst>
          </p:cNvPr>
          <p:cNvSpPr>
            <a:spLocks xmlns:a="http://schemas.openxmlformats.org/drawingml/2006/main" noGrp="1"/>
          </p:cNvSpPr>
          <p:nvPr/>
        </p:nvSpPr>
        <p:spPr>
          <a:xfrm xmlns:a="http://schemas.openxmlformats.org/drawingml/2006/main">
            <a:off x="7572375" y="50863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ctr">
              <a:defRPr sz="1275" b="0">
                <a:solidFill>
                  <a:srgbClr val="B8C2CF"/>
                </a:solidFill>
                <a:latin typeface="Arial"/>
                <a:ea typeface="Arial"/>
                <a:cs typeface="Arial"/>
              </a:defRPr>
            </a:pPr>
            <a:r>
              <a:rPr sz="1275" b="0">
                <a:solidFill>
                  <a:srgbClr val="B8C2CF"/>
                </a:solidFill>
                <a:latin typeface="Arial"/>
                <a:ea typeface="Arial"/>
                <a:cs typeface="Arial"/>
              </a:rPr>
              <a:t>testing</a:t>
            </a:r>
          </a:p>
        </p:txBody>
      </p:sp>
    </p:spTree>
    <p:extLst>
      <p:ext uri="{BB962C8B-B14F-4D97-AF65-F5344CB8AC3E}">
        <p14:creationId xmlns:p14="http://schemas.microsoft.com/office/powerpoint/2010/main" val="1532740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lide-4-title">
            <a:extLst xmlns:a="http://schemas.openxmlformats.org/drawingml/2006/main">
              <a:ext uri="{FF2B5EF4-FFF2-40B4-BE49-F238E27FC236}">
                <a16:creationId xmlns:a16="http://schemas.microsoft.com/office/drawing/2014/main" id="{2ADAFD00-E2A8-487E-9A9D-849F0E000E5C}"/>
              </a:ext>
            </a:extLst>
          </p:cNvPr>
          <p:cNvSpPr>
            <a:spLocks xmlns:a="http://schemas.openxmlformats.org/drawingml/2006/main" noGrp="1"/>
          </p:cNvSpPr>
          <p:nvPr/>
        </p:nvSpPr>
        <p:spPr>
          <a:xfrm xmlns:a="http://schemas.openxmlformats.org/drawingml/2006/main">
            <a:off x="514350" y="381000"/>
            <a:ext cx="10572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320"/>
          </a:bodyPr>
          <a:lstStyle xmlns:a="http://schemas.openxmlformats.org/drawingml/2006/main"/>
          <a:p xmlns:a="http://schemas.openxmlformats.org/drawingml/2006/main">
            <a:pPr algn="l">
              <a:defRPr sz="3150" b="1">
                <a:solidFill>
                  <a:srgbClr val="14243B"/>
                </a:solidFill>
                <a:latin typeface="Arial"/>
                <a:ea typeface="Arial"/>
                <a:cs typeface="Arial"/>
              </a:defRPr>
            </a:pPr>
            <a:r>
              <a:rPr sz="3150" b="1">
                <a:solidFill>
                  <a:srgbClr val="14243B"/>
                </a:solidFill>
                <a:latin typeface="Arial"/>
                <a:ea typeface="Arial"/>
                <a:cs typeface="Arial"/>
              </a:rPr>
              <a:t>The network learns from compact word-vector summaries</a:t>
            </a:r>
          </a:p>
        </p:txBody>
      </p:sp>
      <p:sp>
        <p:nvSpPr>
          <p:cNvPr id="2" name="slide-4-number">
            <a:extLst xmlns:a="http://schemas.openxmlformats.org/drawingml/2006/main">
              <a:ext uri="{FF2B5EF4-FFF2-40B4-BE49-F238E27FC236}">
                <a16:creationId xmlns:a16="http://schemas.microsoft.com/office/drawing/2014/main" id="{29571BD1-0D3C-4D36-96E0-7364761511ED}"/>
              </a:ext>
            </a:extLst>
          </p:cNvPr>
          <p:cNvSpPr>
            <a:spLocks xmlns:a="http://schemas.openxmlformats.org/drawingml/2006/main" noGrp="1"/>
          </p:cNvSpPr>
          <p:nvPr/>
        </p:nvSpPr>
        <p:spPr>
          <a:xfrm xmlns:a="http://schemas.openxmlformats.org/drawingml/2006/main">
            <a:off x="11191875" y="62293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66667"/>
          </a:bodyPr>
          <a:lstStyle xmlns:a="http://schemas.openxmlformats.org/drawingml/2006/main"/>
          <a:p xmlns:a="http://schemas.openxmlformats.org/drawingml/2006/main">
            <a:pPr algn="r">
              <a:defRPr sz="975" b="0">
                <a:solidFill>
                  <a:srgbClr val="536174"/>
                </a:solidFill>
                <a:latin typeface="Arial"/>
                <a:ea typeface="Arial"/>
                <a:cs typeface="Arial"/>
              </a:defRPr>
            </a:pPr>
            <a:r>
              <a:rPr sz="975" b="0">
                <a:solidFill>
                  <a:srgbClr val="536174"/>
                </a:solidFill>
                <a:latin typeface="Arial"/>
                <a:ea typeface="Arial"/>
                <a:cs typeface="Arial"/>
              </a:rPr>
              <a:t>04</a:t>
            </a:r>
          </a:p>
        </p:txBody>
      </p:sp>
      <p:cxnSp>
        <p:nvCxnSpPr>
          <p:cNvPr id="31" name="architecture-connector-0"/>
          <p:cNvCxnSpPr/>
          <p:nvPr/>
        </p:nvCxnSpPr>
        <p:spPr>
          <a:xfrm xmlns:a="http://schemas.openxmlformats.org/drawingml/2006/main">
            <a:off x="2171700" y="2895600"/>
            <a:ext cx="171450" cy="0"/>
          </a:xfrm>
          <a:prstGeom xmlns:a="http://schemas.openxmlformats.org/drawingml/2006/main" prst="straightConnector1">
            <a:avLst/>
          </a:prstGeom>
          <a:ln xmlns:a="http://schemas.openxmlformats.org/drawingml/2006/main" w="28575">
            <a:solidFill>
              <a:srgbClr val="D9DEDB"/>
            </a:solidFill>
            <a:prstDash val="solid"/>
          </a:ln>
        </p:spPr>
      </p:cxnSp>
      <p:cxnSp>
        <p:nvCxnSpPr>
          <p:cNvPr id="32" name="architecture-connector-1"/>
          <p:cNvCxnSpPr/>
          <p:nvPr/>
        </p:nvCxnSpPr>
        <p:spPr>
          <a:xfrm xmlns:a="http://schemas.openxmlformats.org/drawingml/2006/main">
            <a:off x="4000500" y="2895600"/>
            <a:ext cx="171450" cy="0"/>
          </a:xfrm>
          <a:prstGeom xmlns:a="http://schemas.openxmlformats.org/drawingml/2006/main" prst="straightConnector1">
            <a:avLst/>
          </a:prstGeom>
          <a:ln xmlns:a="http://schemas.openxmlformats.org/drawingml/2006/main" w="28575">
            <a:solidFill>
              <a:srgbClr val="D9DEDB"/>
            </a:solidFill>
            <a:prstDash val="solid"/>
          </a:ln>
        </p:spPr>
      </p:cxnSp>
      <p:cxnSp>
        <p:nvCxnSpPr>
          <p:cNvPr id="33" name="architecture-connector-2"/>
          <p:cNvCxnSpPr/>
          <p:nvPr/>
        </p:nvCxnSpPr>
        <p:spPr>
          <a:xfrm xmlns:a="http://schemas.openxmlformats.org/drawingml/2006/main">
            <a:off x="5829300" y="2895600"/>
            <a:ext cx="171450" cy="0"/>
          </a:xfrm>
          <a:prstGeom xmlns:a="http://schemas.openxmlformats.org/drawingml/2006/main" prst="straightConnector1">
            <a:avLst/>
          </a:prstGeom>
          <a:ln xmlns:a="http://schemas.openxmlformats.org/drawingml/2006/main" w="28575">
            <a:solidFill>
              <a:srgbClr val="D9DEDB"/>
            </a:solidFill>
            <a:prstDash val="solid"/>
          </a:ln>
        </p:spPr>
      </p:cxnSp>
      <p:cxnSp>
        <p:nvCxnSpPr>
          <p:cNvPr id="34" name="architecture-connector-3"/>
          <p:cNvCxnSpPr/>
          <p:nvPr/>
        </p:nvCxnSpPr>
        <p:spPr>
          <a:xfrm xmlns:a="http://schemas.openxmlformats.org/drawingml/2006/main">
            <a:off x="7658100" y="2895600"/>
            <a:ext cx="171450" cy="0"/>
          </a:xfrm>
          <a:prstGeom xmlns:a="http://schemas.openxmlformats.org/drawingml/2006/main" prst="straightConnector1">
            <a:avLst/>
          </a:prstGeom>
          <a:ln xmlns:a="http://schemas.openxmlformats.org/drawingml/2006/main" w="28575">
            <a:solidFill>
              <a:srgbClr val="D9DEDB"/>
            </a:solidFill>
            <a:prstDash val="solid"/>
          </a:ln>
        </p:spPr>
      </p:cxnSp>
      <p:cxnSp>
        <p:nvCxnSpPr>
          <p:cNvPr id="35" name="architecture-connector-4"/>
          <p:cNvCxnSpPr/>
          <p:nvPr/>
        </p:nvCxnSpPr>
        <p:spPr>
          <a:xfrm xmlns:a="http://schemas.openxmlformats.org/drawingml/2006/main">
            <a:off x="9486900" y="2895600"/>
            <a:ext cx="171450" cy="0"/>
          </a:xfrm>
          <a:prstGeom xmlns:a="http://schemas.openxmlformats.org/drawingml/2006/main" prst="straightConnector1">
            <a:avLst/>
          </a:prstGeom>
          <a:ln xmlns:a="http://schemas.openxmlformats.org/drawingml/2006/main" w="28575">
            <a:solidFill>
              <a:srgbClr val="D9DEDB"/>
            </a:solidFill>
            <a:prstDash val="solid"/>
          </a:ln>
        </p:spPr>
      </p:cxnSp>
      <p:sp>
        <p:nvSpPr>
          <p:cNvPr id="8" name="architecture-node-0">
            <a:extLst xmlns:a="http://schemas.openxmlformats.org/drawingml/2006/main">
              <a:ext uri="{FF2B5EF4-FFF2-40B4-BE49-F238E27FC236}">
                <a16:creationId xmlns:a16="http://schemas.microsoft.com/office/drawing/2014/main" id="{01088A75-4FC4-4BD1-88D6-C618035F8A72}"/>
              </a:ext>
            </a:extLst>
          </p:cNvPr>
          <p:cNvSpPr>
            <a:spLocks xmlns:a="http://schemas.openxmlformats.org/drawingml/2006/main" noGrp="1"/>
          </p:cNvSpPr>
          <p:nvPr/>
        </p:nvSpPr>
        <p:spPr>
          <a:xfrm xmlns:a="http://schemas.openxmlformats.org/drawingml/2006/main">
            <a:off x="514350" y="2343150"/>
            <a:ext cx="1657350" cy="1104900"/>
          </a:xfrm>
          <a:prstGeom xmlns:a="http://schemas.openxmlformats.org/drawingml/2006/main" prst="rect">
            <a:avLst/>
          </a:prstGeom>
          <a:solidFill xmlns:a="http://schemas.openxmlformats.org/drawingml/2006/main">
            <a:srgbClr val="F7F4ED"/>
          </a:solidFill>
          <a:ln xmlns:a="http://schemas.openxmlformats.org/drawingml/2006/main" w="9525">
            <a:solidFill>
              <a:srgbClr val="D9DEDB"/>
            </a:solidFill>
            <a:prstDash val="solid"/>
          </a:ln>
        </p:spPr>
      </p:sp>
      <p:sp>
        <p:nvSpPr>
          <p:cNvPr id="9" name="architecture-head-0">
            <a:extLst xmlns:a="http://schemas.openxmlformats.org/drawingml/2006/main">
              <a:ext uri="{FF2B5EF4-FFF2-40B4-BE49-F238E27FC236}">
                <a16:creationId xmlns:a16="http://schemas.microsoft.com/office/drawing/2014/main" id="{2A544EA8-DED1-415B-96FF-EC51E2AFED9C}"/>
              </a:ext>
            </a:extLst>
          </p:cNvPr>
          <p:cNvSpPr>
            <a:spLocks xmlns:a="http://schemas.openxmlformats.org/drawingml/2006/main" noGrp="1"/>
          </p:cNvSpPr>
          <p:nvPr/>
        </p:nvSpPr>
        <p:spPr>
          <a:xfrm xmlns:a="http://schemas.openxmlformats.org/drawingml/2006/main">
            <a:off x="628650" y="2524125"/>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Token IDs</a:t>
            </a:r>
          </a:p>
        </p:txBody>
      </p:sp>
      <p:sp>
        <p:nvSpPr>
          <p:cNvPr id="10" name="architecture-body-0">
            <a:extLst xmlns:a="http://schemas.openxmlformats.org/drawingml/2006/main">
              <a:ext uri="{FF2B5EF4-FFF2-40B4-BE49-F238E27FC236}">
                <a16:creationId xmlns:a16="http://schemas.microsoft.com/office/drawing/2014/main" id="{8956F104-D0FF-4EEB-BDE2-00647B871FE8}"/>
              </a:ext>
            </a:extLst>
          </p:cNvPr>
          <p:cNvSpPr>
            <a:spLocks xmlns:a="http://schemas.openxmlformats.org/drawingml/2006/main" noGrp="1"/>
          </p:cNvSpPr>
          <p:nvPr/>
        </p:nvSpPr>
        <p:spPr>
          <a:xfrm xmlns:a="http://schemas.openxmlformats.org/drawingml/2006/main">
            <a:off x="628650" y="297180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428"/>
          </a:bodyPr>
          <a:lstStyle xmlns:a="http://schemas.openxmlformats.org/drawingml/2006/main"/>
          <a:p xmlns:a="http://schemas.openxmlformats.org/drawingml/2006/main">
            <a:pPr algn="ctr">
              <a:defRPr sz="1200" b="0">
                <a:solidFill>
                  <a:srgbClr val="536174"/>
                </a:solidFill>
                <a:latin typeface="Arial"/>
                <a:ea typeface="Arial"/>
                <a:cs typeface="Arial"/>
              </a:defRPr>
            </a:pPr>
            <a:r>
              <a:rPr sz="1200" b="0">
                <a:solidFill>
                  <a:srgbClr val="536174"/>
                </a:solidFill>
                <a:latin typeface="Arial"/>
                <a:ea typeface="Arial"/>
                <a:cs typeface="Arial"/>
              </a:rPr>
              <a:t>clean words + bigrams</a:t>
            </a:r>
          </a:p>
        </p:txBody>
      </p:sp>
      <p:sp>
        <p:nvSpPr>
          <p:cNvPr id="11" name="architecture-node-1">
            <a:extLst xmlns:a="http://schemas.openxmlformats.org/drawingml/2006/main">
              <a:ext uri="{FF2B5EF4-FFF2-40B4-BE49-F238E27FC236}">
                <a16:creationId xmlns:a16="http://schemas.microsoft.com/office/drawing/2014/main" id="{8C25D8B3-278A-4E2C-9D7A-6E03E1581E06}"/>
              </a:ext>
            </a:extLst>
          </p:cNvPr>
          <p:cNvSpPr>
            <a:spLocks xmlns:a="http://schemas.openxmlformats.org/drawingml/2006/main" noGrp="1"/>
          </p:cNvSpPr>
          <p:nvPr/>
        </p:nvSpPr>
        <p:spPr>
          <a:xfrm xmlns:a="http://schemas.openxmlformats.org/drawingml/2006/main">
            <a:off x="2343150" y="2343150"/>
            <a:ext cx="1657350" cy="1104900"/>
          </a:xfrm>
          <a:prstGeom xmlns:a="http://schemas.openxmlformats.org/drawingml/2006/main" prst="rect">
            <a:avLst/>
          </a:prstGeom>
          <a:solidFill xmlns:a="http://schemas.openxmlformats.org/drawingml/2006/main">
            <a:srgbClr val="F7F4ED"/>
          </a:solidFill>
          <a:ln xmlns:a="http://schemas.openxmlformats.org/drawingml/2006/main" w="9525">
            <a:solidFill>
              <a:srgbClr val="D9DEDB"/>
            </a:solidFill>
            <a:prstDash val="solid"/>
          </a:ln>
        </p:spPr>
      </p:sp>
      <p:sp>
        <p:nvSpPr>
          <p:cNvPr id="12" name="architecture-head-1">
            <a:extLst xmlns:a="http://schemas.openxmlformats.org/drawingml/2006/main">
              <a:ext uri="{FF2B5EF4-FFF2-40B4-BE49-F238E27FC236}">
                <a16:creationId xmlns:a16="http://schemas.microsoft.com/office/drawing/2014/main" id="{6B96452A-DA9B-4C92-87FC-8A677441C4D6}"/>
              </a:ext>
            </a:extLst>
          </p:cNvPr>
          <p:cNvSpPr>
            <a:spLocks xmlns:a="http://schemas.openxmlformats.org/drawingml/2006/main" noGrp="1"/>
          </p:cNvSpPr>
          <p:nvPr/>
        </p:nvSpPr>
        <p:spPr>
          <a:xfrm xmlns:a="http://schemas.openxmlformats.org/drawingml/2006/main">
            <a:off x="2457450" y="2524125"/>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Embedding</a:t>
            </a:r>
          </a:p>
        </p:txBody>
      </p:sp>
      <p:sp>
        <p:nvSpPr>
          <p:cNvPr id="13" name="architecture-body-1">
            <a:extLst xmlns:a="http://schemas.openxmlformats.org/drawingml/2006/main">
              <a:ext uri="{FF2B5EF4-FFF2-40B4-BE49-F238E27FC236}">
                <a16:creationId xmlns:a16="http://schemas.microsoft.com/office/drawing/2014/main" id="{D84E2B5A-7511-4AF0-96AF-6A96B8C4B524}"/>
              </a:ext>
            </a:extLst>
          </p:cNvPr>
          <p:cNvSpPr>
            <a:spLocks xmlns:a="http://schemas.openxmlformats.org/drawingml/2006/main" noGrp="1"/>
          </p:cNvSpPr>
          <p:nvPr/>
        </p:nvSpPr>
        <p:spPr>
          <a:xfrm xmlns:a="http://schemas.openxmlformats.org/drawingml/2006/main">
            <a:off x="2457450" y="297180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536174"/>
                </a:solidFill>
                <a:latin typeface="Arial"/>
                <a:ea typeface="Arial"/>
                <a:cs typeface="Arial"/>
              </a:defRPr>
            </a:pPr>
            <a:r>
              <a:rPr sz="1200" b="0">
                <a:solidFill>
                  <a:srgbClr val="536174"/>
                </a:solidFill>
                <a:latin typeface="Arial"/>
                <a:ea typeface="Arial"/>
                <a:cs typeface="Arial"/>
              </a:rPr>
              <a:t>48 dimensions</a:t>
            </a:r>
          </a:p>
        </p:txBody>
      </p:sp>
      <p:sp>
        <p:nvSpPr>
          <p:cNvPr id="14" name="architecture-node-2">
            <a:extLst xmlns:a="http://schemas.openxmlformats.org/drawingml/2006/main">
              <a:ext uri="{FF2B5EF4-FFF2-40B4-BE49-F238E27FC236}">
                <a16:creationId xmlns:a16="http://schemas.microsoft.com/office/drawing/2014/main" id="{1763450A-5160-40B9-B966-5559A933CBAD}"/>
              </a:ext>
            </a:extLst>
          </p:cNvPr>
          <p:cNvSpPr>
            <a:spLocks xmlns:a="http://schemas.openxmlformats.org/drawingml/2006/main" noGrp="1"/>
          </p:cNvSpPr>
          <p:nvPr/>
        </p:nvSpPr>
        <p:spPr>
          <a:xfrm xmlns:a="http://schemas.openxmlformats.org/drawingml/2006/main">
            <a:off x="4171950" y="2343150"/>
            <a:ext cx="1657350" cy="1104900"/>
          </a:xfrm>
          <a:prstGeom xmlns:a="http://schemas.openxmlformats.org/drawingml/2006/main" prst="rect">
            <a:avLst/>
          </a:prstGeom>
          <a:solidFill xmlns:a="http://schemas.openxmlformats.org/drawingml/2006/main">
            <a:srgbClr val="F7F4ED"/>
          </a:solidFill>
          <a:ln xmlns:a="http://schemas.openxmlformats.org/drawingml/2006/main" w="9525">
            <a:solidFill>
              <a:srgbClr val="D9DEDB"/>
            </a:solidFill>
            <a:prstDash val="solid"/>
          </a:ln>
        </p:spPr>
      </p:sp>
      <p:sp>
        <p:nvSpPr>
          <p:cNvPr id="15" name="architecture-head-2">
            <a:extLst xmlns:a="http://schemas.openxmlformats.org/drawingml/2006/main">
              <a:ext uri="{FF2B5EF4-FFF2-40B4-BE49-F238E27FC236}">
                <a16:creationId xmlns:a16="http://schemas.microsoft.com/office/drawing/2014/main" id="{C8BC0F04-6455-4FE4-A734-89303C1794DB}"/>
              </a:ext>
            </a:extLst>
          </p:cNvPr>
          <p:cNvSpPr>
            <a:spLocks xmlns:a="http://schemas.openxmlformats.org/drawingml/2006/main" noGrp="1"/>
          </p:cNvSpPr>
          <p:nvPr/>
        </p:nvSpPr>
        <p:spPr>
          <a:xfrm xmlns:a="http://schemas.openxmlformats.org/drawingml/2006/main">
            <a:off x="4286250" y="2524125"/>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216"/>
          </a:bodyPr>
          <a:lstStyle xmlns:a="http://schemas.openxmlformats.org/drawingml/2006/main"/>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Average pooling</a:t>
            </a:r>
          </a:p>
        </p:txBody>
      </p:sp>
      <p:sp>
        <p:nvSpPr>
          <p:cNvPr id="16" name="architecture-body-2">
            <a:extLst xmlns:a="http://schemas.openxmlformats.org/drawingml/2006/main">
              <a:ext uri="{FF2B5EF4-FFF2-40B4-BE49-F238E27FC236}">
                <a16:creationId xmlns:a16="http://schemas.microsoft.com/office/drawing/2014/main" id="{28FF8DC3-9D7E-41CA-8642-A636E4C7BFD8}"/>
              </a:ext>
            </a:extLst>
          </p:cNvPr>
          <p:cNvSpPr>
            <a:spLocks xmlns:a="http://schemas.openxmlformats.org/drawingml/2006/main" noGrp="1"/>
          </p:cNvSpPr>
          <p:nvPr/>
        </p:nvSpPr>
        <p:spPr>
          <a:xfrm xmlns:a="http://schemas.openxmlformats.org/drawingml/2006/main">
            <a:off x="4286250" y="297180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536174"/>
                </a:solidFill>
                <a:latin typeface="Arial"/>
                <a:ea typeface="Arial"/>
                <a:cs typeface="Arial"/>
              </a:defRPr>
            </a:pPr>
            <a:r>
              <a:rPr sz="1200" b="0">
                <a:solidFill>
                  <a:srgbClr val="536174"/>
                </a:solidFill>
                <a:latin typeface="Arial"/>
                <a:ea typeface="Arial"/>
                <a:cs typeface="Arial"/>
              </a:rPr>
              <a:t>one review vector</a:t>
            </a:r>
          </a:p>
        </p:txBody>
      </p:sp>
      <p:sp>
        <p:nvSpPr>
          <p:cNvPr id="17" name="architecture-node-3">
            <a:extLst xmlns:a="http://schemas.openxmlformats.org/drawingml/2006/main">
              <a:ext uri="{FF2B5EF4-FFF2-40B4-BE49-F238E27FC236}">
                <a16:creationId xmlns:a16="http://schemas.microsoft.com/office/drawing/2014/main" id="{B0334B30-BA57-48C1-8B83-66D3F9FC43FD}"/>
              </a:ext>
            </a:extLst>
          </p:cNvPr>
          <p:cNvSpPr>
            <a:spLocks xmlns:a="http://schemas.openxmlformats.org/drawingml/2006/main" noGrp="1"/>
          </p:cNvSpPr>
          <p:nvPr/>
        </p:nvSpPr>
        <p:spPr>
          <a:xfrm xmlns:a="http://schemas.openxmlformats.org/drawingml/2006/main">
            <a:off x="6000750" y="2343150"/>
            <a:ext cx="1657350" cy="1104900"/>
          </a:xfrm>
          <a:prstGeom xmlns:a="http://schemas.openxmlformats.org/drawingml/2006/main" prst="rect">
            <a:avLst/>
          </a:prstGeom>
          <a:solidFill xmlns:a="http://schemas.openxmlformats.org/drawingml/2006/main">
            <a:srgbClr val="F7F4ED"/>
          </a:solidFill>
          <a:ln xmlns:a="http://schemas.openxmlformats.org/drawingml/2006/main" w="9525">
            <a:solidFill>
              <a:srgbClr val="D9DEDB"/>
            </a:solidFill>
            <a:prstDash val="solid"/>
          </a:ln>
        </p:spPr>
      </p:sp>
      <p:sp>
        <p:nvSpPr>
          <p:cNvPr id="18" name="architecture-head-3">
            <a:extLst xmlns:a="http://schemas.openxmlformats.org/drawingml/2006/main">
              <a:ext uri="{FF2B5EF4-FFF2-40B4-BE49-F238E27FC236}">
                <a16:creationId xmlns:a16="http://schemas.microsoft.com/office/drawing/2014/main" id="{CDFC4C68-6D91-4C2B-A5BE-B00908510E11}"/>
              </a:ext>
            </a:extLst>
          </p:cNvPr>
          <p:cNvSpPr>
            <a:spLocks xmlns:a="http://schemas.openxmlformats.org/drawingml/2006/main" noGrp="1"/>
          </p:cNvSpPr>
          <p:nvPr/>
        </p:nvSpPr>
        <p:spPr>
          <a:xfrm xmlns:a="http://schemas.openxmlformats.org/drawingml/2006/main">
            <a:off x="6115050" y="2524125"/>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7820"/>
          </a:bodyPr>
          <a:lstStyle xmlns:a="http://schemas.openxmlformats.org/drawingml/2006/main"/>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Dense + ReLU</a:t>
            </a:r>
          </a:p>
        </p:txBody>
      </p:sp>
      <p:sp>
        <p:nvSpPr>
          <p:cNvPr id="19" name="architecture-body-3">
            <a:extLst xmlns:a="http://schemas.openxmlformats.org/drawingml/2006/main">
              <a:ext uri="{FF2B5EF4-FFF2-40B4-BE49-F238E27FC236}">
                <a16:creationId xmlns:a16="http://schemas.microsoft.com/office/drawing/2014/main" id="{A167D9FF-E7E4-44E0-8A9F-B900FF2B2CCF}"/>
              </a:ext>
            </a:extLst>
          </p:cNvPr>
          <p:cNvSpPr>
            <a:spLocks xmlns:a="http://schemas.openxmlformats.org/drawingml/2006/main" noGrp="1"/>
          </p:cNvSpPr>
          <p:nvPr/>
        </p:nvSpPr>
        <p:spPr>
          <a:xfrm xmlns:a="http://schemas.openxmlformats.org/drawingml/2006/main">
            <a:off x="6115050" y="297180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536174"/>
                </a:solidFill>
                <a:latin typeface="Arial"/>
                <a:ea typeface="Arial"/>
                <a:cs typeface="Arial"/>
              </a:defRPr>
            </a:pPr>
            <a:r>
              <a:rPr sz="1200" b="0">
                <a:solidFill>
                  <a:srgbClr val="536174"/>
                </a:solidFill>
                <a:latin typeface="Arial"/>
                <a:ea typeface="Arial"/>
                <a:cs typeface="Arial"/>
              </a:rPr>
              <a:t>64 hidden units</a:t>
            </a:r>
          </a:p>
        </p:txBody>
      </p:sp>
      <p:sp>
        <p:nvSpPr>
          <p:cNvPr id="20" name="architecture-node-4">
            <a:extLst xmlns:a="http://schemas.openxmlformats.org/drawingml/2006/main">
              <a:ext uri="{FF2B5EF4-FFF2-40B4-BE49-F238E27FC236}">
                <a16:creationId xmlns:a16="http://schemas.microsoft.com/office/drawing/2014/main" id="{CF4D66ED-3167-455A-847A-C6C7237D2713}"/>
              </a:ext>
            </a:extLst>
          </p:cNvPr>
          <p:cNvSpPr>
            <a:spLocks xmlns:a="http://schemas.openxmlformats.org/drawingml/2006/main" noGrp="1"/>
          </p:cNvSpPr>
          <p:nvPr/>
        </p:nvSpPr>
        <p:spPr>
          <a:xfrm xmlns:a="http://schemas.openxmlformats.org/drawingml/2006/main">
            <a:off x="7829550" y="2343150"/>
            <a:ext cx="1657350" cy="1104900"/>
          </a:xfrm>
          <a:prstGeom xmlns:a="http://schemas.openxmlformats.org/drawingml/2006/main" prst="rect">
            <a:avLst/>
          </a:prstGeom>
          <a:solidFill xmlns:a="http://schemas.openxmlformats.org/drawingml/2006/main">
            <a:srgbClr val="F7F4ED"/>
          </a:solidFill>
          <a:ln xmlns:a="http://schemas.openxmlformats.org/drawingml/2006/main" w="9525">
            <a:solidFill>
              <a:srgbClr val="D9DEDB"/>
            </a:solidFill>
            <a:prstDash val="solid"/>
          </a:ln>
        </p:spPr>
      </p:sp>
      <p:sp>
        <p:nvSpPr>
          <p:cNvPr id="21" name="architecture-head-4">
            <a:extLst xmlns:a="http://schemas.openxmlformats.org/drawingml/2006/main">
              <a:ext uri="{FF2B5EF4-FFF2-40B4-BE49-F238E27FC236}">
                <a16:creationId xmlns:a16="http://schemas.microsoft.com/office/drawing/2014/main" id="{0A272715-E097-4E83-B725-3662F7771B24}"/>
              </a:ext>
            </a:extLst>
          </p:cNvPr>
          <p:cNvSpPr>
            <a:spLocks xmlns:a="http://schemas.openxmlformats.org/drawingml/2006/main" noGrp="1"/>
          </p:cNvSpPr>
          <p:nvPr/>
        </p:nvSpPr>
        <p:spPr>
          <a:xfrm xmlns:a="http://schemas.openxmlformats.org/drawingml/2006/main">
            <a:off x="7943850" y="2524125"/>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Dropout</a:t>
            </a:r>
          </a:p>
        </p:txBody>
      </p:sp>
      <p:sp>
        <p:nvSpPr>
          <p:cNvPr id="22" name="architecture-body-4">
            <a:extLst xmlns:a="http://schemas.openxmlformats.org/drawingml/2006/main">
              <a:ext uri="{FF2B5EF4-FFF2-40B4-BE49-F238E27FC236}">
                <a16:creationId xmlns:a16="http://schemas.microsoft.com/office/drawing/2014/main" id="{CE585C99-7832-414E-95A6-385DE774F232}"/>
              </a:ext>
            </a:extLst>
          </p:cNvPr>
          <p:cNvSpPr>
            <a:spLocks xmlns:a="http://schemas.openxmlformats.org/drawingml/2006/main" noGrp="1"/>
          </p:cNvSpPr>
          <p:nvPr/>
        </p:nvSpPr>
        <p:spPr>
          <a:xfrm xmlns:a="http://schemas.openxmlformats.org/drawingml/2006/main">
            <a:off x="7943850" y="297180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597"/>
          </a:bodyPr>
          <a:lstStyle xmlns:a="http://schemas.openxmlformats.org/drawingml/2006/main"/>
          <a:p xmlns:a="http://schemas.openxmlformats.org/drawingml/2006/main">
            <a:pPr algn="ctr">
              <a:defRPr sz="1200" b="0">
                <a:solidFill>
                  <a:srgbClr val="536174"/>
                </a:solidFill>
                <a:latin typeface="Arial"/>
                <a:ea typeface="Arial"/>
                <a:cs typeface="Arial"/>
              </a:defRPr>
            </a:pPr>
            <a:r>
              <a:rPr sz="1200" b="0">
                <a:solidFill>
                  <a:srgbClr val="536174"/>
                </a:solidFill>
                <a:latin typeface="Arial"/>
                <a:ea typeface="Arial"/>
                <a:cs typeface="Arial"/>
              </a:rPr>
              <a:t>35% during training</a:t>
            </a:r>
          </a:p>
        </p:txBody>
      </p:sp>
      <p:sp>
        <p:nvSpPr>
          <p:cNvPr id="23" name="architecture-node-5">
            <a:extLst xmlns:a="http://schemas.openxmlformats.org/drawingml/2006/main">
              <a:ext uri="{FF2B5EF4-FFF2-40B4-BE49-F238E27FC236}">
                <a16:creationId xmlns:a16="http://schemas.microsoft.com/office/drawing/2014/main" id="{DCAD804B-B94D-46AC-997C-D91762806C6D}"/>
              </a:ext>
            </a:extLst>
          </p:cNvPr>
          <p:cNvSpPr>
            <a:spLocks xmlns:a="http://schemas.openxmlformats.org/drawingml/2006/main" noGrp="1"/>
          </p:cNvSpPr>
          <p:nvPr/>
        </p:nvSpPr>
        <p:spPr>
          <a:xfrm xmlns:a="http://schemas.openxmlformats.org/drawingml/2006/main">
            <a:off x="9658350" y="2343150"/>
            <a:ext cx="1657350" cy="1104900"/>
          </a:xfrm>
          <a:prstGeom xmlns:a="http://schemas.openxmlformats.org/drawingml/2006/main" prst="rect">
            <a:avLst/>
          </a:prstGeom>
          <a:solidFill xmlns:a="http://schemas.openxmlformats.org/drawingml/2006/main">
            <a:srgbClr val="087F75"/>
          </a:solidFill>
          <a:ln xmlns:a="http://schemas.openxmlformats.org/drawingml/2006/main" w="9525">
            <a:solidFill>
              <a:srgbClr val="087F75"/>
            </a:solidFill>
            <a:prstDash val="solid"/>
          </a:ln>
        </p:spPr>
      </p:sp>
      <p:sp>
        <p:nvSpPr>
          <p:cNvPr id="24" name="architecture-head-5">
            <a:extLst xmlns:a="http://schemas.openxmlformats.org/drawingml/2006/main">
              <a:ext uri="{FF2B5EF4-FFF2-40B4-BE49-F238E27FC236}">
                <a16:creationId xmlns:a16="http://schemas.microsoft.com/office/drawing/2014/main" id="{354CF21B-6C84-442F-A53F-B9B5868BE64F}"/>
              </a:ext>
            </a:extLst>
          </p:cNvPr>
          <p:cNvSpPr>
            <a:spLocks xmlns:a="http://schemas.openxmlformats.org/drawingml/2006/main" noGrp="1"/>
          </p:cNvSpPr>
          <p:nvPr/>
        </p:nvSpPr>
        <p:spPr>
          <a:xfrm xmlns:a="http://schemas.openxmlformats.org/drawingml/2006/main">
            <a:off x="9772650" y="2524125"/>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Sigmoid</a:t>
            </a:r>
          </a:p>
        </p:txBody>
      </p:sp>
      <p:sp>
        <p:nvSpPr>
          <p:cNvPr id="25" name="architecture-body-5">
            <a:extLst xmlns:a="http://schemas.openxmlformats.org/drawingml/2006/main">
              <a:ext uri="{FF2B5EF4-FFF2-40B4-BE49-F238E27FC236}">
                <a16:creationId xmlns:a16="http://schemas.microsoft.com/office/drawing/2014/main" id="{92BA7432-5B1A-4655-94F3-F1B5339B0885}"/>
              </a:ext>
            </a:extLst>
          </p:cNvPr>
          <p:cNvSpPr>
            <a:spLocks xmlns:a="http://schemas.openxmlformats.org/drawingml/2006/main" noGrp="1"/>
          </p:cNvSpPr>
          <p:nvPr/>
        </p:nvSpPr>
        <p:spPr>
          <a:xfrm xmlns:a="http://schemas.openxmlformats.org/drawingml/2006/main">
            <a:off x="9772650" y="297180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316"/>
          </a:bodyPr>
          <a:lstStyle xmlns:a="http://schemas.openxmlformats.org/drawingml/2006/main"/>
          <a:p xmlns:a="http://schemas.openxmlformats.org/drawingml/2006/main">
            <a:pPr algn="ctr">
              <a:defRPr sz="1200" b="0">
                <a:solidFill>
                  <a:srgbClr val="FFFFFF"/>
                </a:solidFill>
                <a:latin typeface="Arial"/>
                <a:ea typeface="Arial"/>
                <a:cs typeface="Arial"/>
              </a:defRPr>
            </a:pPr>
            <a:r>
              <a:rPr sz="1200" b="0">
                <a:solidFill>
                  <a:srgbClr val="FFFFFF"/>
                </a:solidFill>
                <a:latin typeface="Arial"/>
                <a:ea typeface="Arial"/>
                <a:cs typeface="Arial"/>
              </a:rPr>
              <a:t>positive probability</a:t>
            </a:r>
          </a:p>
        </p:txBody>
      </p:sp>
      <p:sp>
        <p:nvSpPr>
          <p:cNvPr id="26" name="architecture-caption">
            <a:extLst xmlns:a="http://schemas.openxmlformats.org/drawingml/2006/main">
              <a:ext uri="{FF2B5EF4-FFF2-40B4-BE49-F238E27FC236}">
                <a16:creationId xmlns:a16="http://schemas.microsoft.com/office/drawing/2014/main" id="{25BBAE30-3D1A-4D42-907C-FE4C108199C0}"/>
              </a:ext>
            </a:extLst>
          </p:cNvPr>
          <p:cNvSpPr>
            <a:spLocks xmlns:a="http://schemas.openxmlformats.org/drawingml/2006/main" noGrp="1"/>
          </p:cNvSpPr>
          <p:nvPr/>
        </p:nvSpPr>
        <p:spPr>
          <a:xfrm xmlns:a="http://schemas.openxmlformats.org/drawingml/2006/main">
            <a:off x="2333625" y="4171950"/>
            <a:ext cx="752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010"/>
          </a:bodyPr>
          <a:lstStyle xmlns:a="http://schemas.openxmlformats.org/drawingml/2006/main"/>
          <a:p xmlns:a="http://schemas.openxmlformats.org/drawingml/2006/main">
            <a:pPr algn="ctr">
              <a:defRPr sz="1800" b="0">
                <a:solidFill>
                  <a:srgbClr val="14243B"/>
                </a:solidFill>
                <a:latin typeface="Arial"/>
                <a:ea typeface="Arial"/>
                <a:cs typeface="Arial"/>
              </a:defRPr>
            </a:pPr>
            <a:r>
              <a:rPr sz="1800" b="0">
                <a:solidFill>
                  <a:srgbClr val="14243B"/>
                </a:solidFill>
                <a:latin typeface="Arial"/>
                <a:ea typeface="Arial"/>
                <a:cs typeface="Arial"/>
              </a:rPr>
              <a:t>The decision threshold converts the final probability into the required label.</a:t>
            </a:r>
          </a:p>
        </p:txBody>
      </p:sp>
      <p:sp>
        <p:nvSpPr>
          <p:cNvPr id="27" name="architecture-note">
            <a:extLst xmlns:a="http://schemas.openxmlformats.org/drawingml/2006/main">
              <a:ext uri="{FF2B5EF4-FFF2-40B4-BE49-F238E27FC236}">
                <a16:creationId xmlns:a16="http://schemas.microsoft.com/office/drawing/2014/main" id="{289D773A-E83D-4E8C-876C-BD6F6E5436A7}"/>
              </a:ext>
            </a:extLst>
          </p:cNvPr>
          <p:cNvSpPr>
            <a:spLocks xmlns:a="http://schemas.openxmlformats.org/drawingml/2006/main" noGrp="1"/>
          </p:cNvSpPr>
          <p:nvPr/>
        </p:nvSpPr>
        <p:spPr>
          <a:xfrm xmlns:a="http://schemas.openxmlformats.org/drawingml/2006/main">
            <a:off x="3000375" y="5010150"/>
            <a:ext cx="6191250" cy="609600"/>
          </a:xfrm>
          <a:prstGeom xmlns:a="http://schemas.openxmlformats.org/drawingml/2006/main" prst="rect">
            <a:avLst/>
          </a:prstGeom>
          <a:solidFill xmlns:a="http://schemas.openxmlformats.org/drawingml/2006/main">
            <a:srgbClr val="DCEFEB"/>
          </a:solidFill>
          <a:ln xmlns:a="http://schemas.openxmlformats.org/drawingml/2006/main" w="9525">
            <a:solidFill>
              <a:srgbClr val="087F75"/>
            </a:solidFill>
            <a:prstDash val="solid"/>
          </a:ln>
        </p:spPr>
      </p:sp>
      <p:sp>
        <p:nvSpPr>
          <p:cNvPr id="28" name="architecture-note-copy">
            <a:extLst xmlns:a="http://schemas.openxmlformats.org/drawingml/2006/main">
              <a:ext uri="{FF2B5EF4-FFF2-40B4-BE49-F238E27FC236}">
                <a16:creationId xmlns:a16="http://schemas.microsoft.com/office/drawing/2014/main" id="{EBFC3A48-ADE1-41AD-A1EB-F85191CEFDC4}"/>
              </a:ext>
            </a:extLst>
          </p:cNvPr>
          <p:cNvSpPr>
            <a:spLocks xmlns:a="http://schemas.openxmlformats.org/drawingml/2006/main" noGrp="1"/>
          </p:cNvSpPr>
          <p:nvPr/>
        </p:nvSpPr>
        <p:spPr>
          <a:xfrm xmlns:a="http://schemas.openxmlformats.org/drawingml/2006/main">
            <a:off x="3190875" y="5181600"/>
            <a:ext cx="581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defRPr sz="1500" b="1">
                <a:solidFill>
                  <a:srgbClr val="05635C"/>
                </a:solidFill>
                <a:latin typeface="Arial"/>
                <a:ea typeface="Arial"/>
                <a:cs typeface="Arial"/>
              </a:defRPr>
            </a:pPr>
            <a:r>
              <a:rPr sz="1500" b="1">
                <a:solidFill>
                  <a:srgbClr val="05635C"/>
                </a:solidFill>
                <a:latin typeface="Arial"/>
                <a:ea typeface="Arial"/>
                <a:cs typeface="Arial"/>
              </a:rPr>
              <a:t>Small model · fast browser inference · editable trained weights</a:t>
            </a:r>
          </a:p>
        </p:txBody>
      </p:sp>
    </p:spTree>
    <p:extLst>
      <p:ext uri="{BB962C8B-B14F-4D97-AF65-F5344CB8AC3E}">
        <p14:creationId xmlns:p14="http://schemas.microsoft.com/office/powerpoint/2010/main" val="163695024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slide-5-title">
            <a:extLst xmlns:a="http://schemas.openxmlformats.org/drawingml/2006/main">
              <a:ext uri="{FF2B5EF4-FFF2-40B4-BE49-F238E27FC236}">
                <a16:creationId xmlns:a16="http://schemas.microsoft.com/office/drawing/2014/main" id="{F90C75C9-6EB3-47F1-9B82-7ED1B00700F6}"/>
              </a:ext>
            </a:extLst>
          </p:cNvPr>
          <p:cNvSpPr>
            <a:spLocks xmlns:a="http://schemas.openxmlformats.org/drawingml/2006/main" noGrp="1"/>
          </p:cNvSpPr>
          <p:nvPr/>
        </p:nvSpPr>
        <p:spPr>
          <a:xfrm xmlns:a="http://schemas.openxmlformats.org/drawingml/2006/main">
            <a:off x="514350" y="381000"/>
            <a:ext cx="10572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150" b="1">
                <a:solidFill>
                  <a:srgbClr val="14243B"/>
                </a:solidFill>
                <a:latin typeface="Arial"/>
                <a:ea typeface="Arial"/>
                <a:cs typeface="Arial"/>
              </a:defRPr>
            </a:pPr>
            <a:r>
              <a:rPr sz="3150" b="1">
                <a:solidFill>
                  <a:srgbClr val="14243B"/>
                </a:solidFill>
                <a:latin typeface="Arial"/>
                <a:ea typeface="Arial"/>
                <a:cs typeface="Arial"/>
              </a:rPr>
              <a:t>Training choices favour stability and repeatability</a:t>
            </a:r>
          </a:p>
        </p:txBody>
      </p:sp>
      <p:sp>
        <p:nvSpPr>
          <p:cNvPr id="2" name="slide-5-number">
            <a:extLst xmlns:a="http://schemas.openxmlformats.org/drawingml/2006/main">
              <a:ext uri="{FF2B5EF4-FFF2-40B4-BE49-F238E27FC236}">
                <a16:creationId xmlns:a16="http://schemas.microsoft.com/office/drawing/2014/main" id="{E9C14BE8-F016-463D-8783-463CEB1DD172}"/>
              </a:ext>
            </a:extLst>
          </p:cNvPr>
          <p:cNvSpPr>
            <a:spLocks xmlns:a="http://schemas.openxmlformats.org/drawingml/2006/main" noGrp="1"/>
          </p:cNvSpPr>
          <p:nvPr/>
        </p:nvSpPr>
        <p:spPr>
          <a:xfrm xmlns:a="http://schemas.openxmlformats.org/drawingml/2006/main">
            <a:off x="11191875" y="62293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66667"/>
          </a:bodyPr>
          <a:lstStyle xmlns:a="http://schemas.openxmlformats.org/drawingml/2006/main"/>
          <a:p xmlns:a="http://schemas.openxmlformats.org/drawingml/2006/main">
            <a:pPr algn="r">
              <a:defRPr sz="975" b="0">
                <a:solidFill>
                  <a:srgbClr val="536174"/>
                </a:solidFill>
                <a:latin typeface="Arial"/>
                <a:ea typeface="Arial"/>
                <a:cs typeface="Arial"/>
              </a:defRPr>
            </a:pPr>
            <a:r>
              <a:rPr sz="975" b="0">
                <a:solidFill>
                  <a:srgbClr val="536174"/>
                </a:solidFill>
                <a:latin typeface="Arial"/>
                <a:ea typeface="Arial"/>
                <a:cs typeface="Arial"/>
              </a:rPr>
              <a:t>05</a:t>
            </a:r>
          </a:p>
        </p:txBody>
      </p:sp>
      <p:sp>
        <p:nvSpPr>
          <p:cNvPr id="3" name="training-thesis">
            <a:extLst xmlns:a="http://schemas.openxmlformats.org/drawingml/2006/main">
              <a:ext uri="{FF2B5EF4-FFF2-40B4-BE49-F238E27FC236}">
                <a16:creationId xmlns:a16="http://schemas.microsoft.com/office/drawing/2014/main" id="{EA4D122E-52FE-4638-B3B4-C74D9EE45822}"/>
              </a:ext>
            </a:extLst>
          </p:cNvPr>
          <p:cNvSpPr>
            <a:spLocks xmlns:a="http://schemas.openxmlformats.org/drawingml/2006/main" noGrp="1"/>
          </p:cNvSpPr>
          <p:nvPr/>
        </p:nvSpPr>
        <p:spPr>
          <a:xfrm xmlns:a="http://schemas.openxmlformats.org/drawingml/2006/main">
            <a:off x="523875" y="171450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815"/>
          </a:bodyPr>
          <a:lstStyle xmlns:a="http://schemas.openxmlformats.org/drawingml/2006/main"/>
          <a:p xmlns:a="http://schemas.openxmlformats.org/drawingml/2006/main">
            <a:pPr algn="l">
              <a:defRPr sz="2250" b="1">
                <a:solidFill>
                  <a:srgbClr val="14243B"/>
                </a:solidFill>
                <a:latin typeface="Arial"/>
                <a:ea typeface="Arial"/>
                <a:cs typeface="Arial"/>
              </a:defRPr>
            </a:pPr>
            <a:r>
              <a:rPr sz="2250" b="1">
                <a:solidFill>
                  <a:srgbClr val="14243B"/>
                </a:solidFill>
                <a:latin typeface="Arial"/>
                <a:ea typeface="Arial"/>
                <a:cs typeface="Arial"/>
              </a:rPr>
              <a:t>The best model was selected by validation performance—not by the final epoch.</a:t>
            </a:r>
          </a:p>
        </p:txBody>
      </p:sp>
      <p:sp>
        <p:nvSpPr>
          <p:cNvPr id="4" name="training-leakage">
            <a:extLst xmlns:a="http://schemas.openxmlformats.org/drawingml/2006/main">
              <a:ext uri="{FF2B5EF4-FFF2-40B4-BE49-F238E27FC236}">
                <a16:creationId xmlns:a16="http://schemas.microsoft.com/office/drawing/2014/main" id="{683F541D-1630-4FE8-A8BC-56565B44B7A0}"/>
              </a:ext>
            </a:extLst>
          </p:cNvPr>
          <p:cNvSpPr>
            <a:spLocks xmlns:a="http://schemas.openxmlformats.org/drawingml/2006/main" noGrp="1"/>
          </p:cNvSpPr>
          <p:nvPr/>
        </p:nvSpPr>
        <p:spPr>
          <a:xfrm xmlns:a="http://schemas.openxmlformats.org/drawingml/2006/main">
            <a:off x="523875" y="3190875"/>
            <a:ext cx="4953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536174"/>
                </a:solidFill>
                <a:latin typeface="Arial"/>
                <a:ea typeface="Arial"/>
                <a:cs typeface="Arial"/>
              </a:defRPr>
            </a:pPr>
            <a:r>
              <a:rPr sz="1575" b="0">
                <a:solidFill>
                  <a:srgbClr val="536174"/>
                </a:solidFill>
                <a:latin typeface="Arial"/>
                <a:ea typeface="Arial"/>
                <a:cs typeface="Arial"/>
              </a:rPr>
              <a:t>The vocabulary was fitted on training data only, preventing test information from entering the model early.</a:t>
            </a:r>
          </a:p>
        </p:txBody>
      </p:sp>
      <p:sp>
        <p:nvSpPr>
          <p:cNvPr id="5" name="training-seed">
            <a:extLst xmlns:a="http://schemas.openxmlformats.org/drawingml/2006/main">
              <a:ext uri="{FF2B5EF4-FFF2-40B4-BE49-F238E27FC236}">
                <a16:creationId xmlns:a16="http://schemas.microsoft.com/office/drawing/2014/main" id="{247B9F68-EBF2-4170-A6E6-67877E2A054A}"/>
              </a:ext>
            </a:extLst>
          </p:cNvPr>
          <p:cNvSpPr>
            <a:spLocks xmlns:a="http://schemas.openxmlformats.org/drawingml/2006/main" noGrp="1"/>
          </p:cNvSpPr>
          <p:nvPr/>
        </p:nvSpPr>
        <p:spPr>
          <a:xfrm xmlns:a="http://schemas.openxmlformats.org/drawingml/2006/main">
            <a:off x="523875" y="4857750"/>
            <a:ext cx="4953000" cy="685800"/>
          </a:xfrm>
          <a:prstGeom xmlns:a="http://schemas.openxmlformats.org/drawingml/2006/main" prst="rect">
            <a:avLst/>
          </a:prstGeom>
          <a:solidFill xmlns:a="http://schemas.openxmlformats.org/drawingml/2006/main">
            <a:srgbClr val="14243B"/>
          </a:solidFill>
          <a:ln xmlns:a="http://schemas.openxmlformats.org/drawingml/2006/main" w="0">
            <a:solidFill>
              <a:srgbClr val="14243B"/>
            </a:solidFill>
            <a:prstDash val="solid"/>
          </a:ln>
        </p:spPr>
      </p:sp>
      <p:sp>
        <p:nvSpPr>
          <p:cNvPr id="6" name="training-seed-copy">
            <a:extLst xmlns:a="http://schemas.openxmlformats.org/drawingml/2006/main">
              <a:ext uri="{FF2B5EF4-FFF2-40B4-BE49-F238E27FC236}">
                <a16:creationId xmlns:a16="http://schemas.microsoft.com/office/drawing/2014/main" id="{27B22688-3BDA-4527-BDFF-D9CC1D23CC07}"/>
              </a:ext>
            </a:extLst>
          </p:cNvPr>
          <p:cNvSpPr>
            <a:spLocks xmlns:a="http://schemas.openxmlformats.org/drawingml/2006/main" noGrp="1"/>
          </p:cNvSpPr>
          <p:nvPr/>
        </p:nvSpPr>
        <p:spPr>
          <a:xfrm xmlns:a="http://schemas.openxmlformats.org/drawingml/2006/main">
            <a:off x="742950" y="5048250"/>
            <a:ext cx="4524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382"/>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Seed 503 makes the split and training reproducible</a:t>
            </a:r>
          </a:p>
        </p:txBody>
      </p:sp>
      <p:sp>
        <p:nvSpPr>
          <p:cNvPr id="7" name="training-rule">
            <a:extLst xmlns:a="http://schemas.openxmlformats.org/drawingml/2006/main">
              <a:ext uri="{FF2B5EF4-FFF2-40B4-BE49-F238E27FC236}">
                <a16:creationId xmlns:a16="http://schemas.microsoft.com/office/drawing/2014/main" id="{DF7C9769-A6D8-497E-B37F-D3B62123A15B}"/>
              </a:ext>
            </a:extLst>
          </p:cNvPr>
          <p:cNvSpPr>
            <a:spLocks xmlns:a="http://schemas.openxmlformats.org/drawingml/2006/main" noGrp="1"/>
          </p:cNvSpPr>
          <p:nvPr/>
        </p:nvSpPr>
        <p:spPr>
          <a:xfrm xmlns:a="http://schemas.openxmlformats.org/drawingml/2006/main">
            <a:off x="5905500" y="1619250"/>
            <a:ext cx="19050" cy="3905250"/>
          </a:xfrm>
          <a:prstGeom xmlns:a="http://schemas.openxmlformats.org/drawingml/2006/main" prst="rect">
            <a:avLst/>
          </a:prstGeom>
          <a:solidFill xmlns:a="http://schemas.openxmlformats.org/drawingml/2006/main">
            <a:srgbClr val="D9DEDB"/>
          </a:solidFill>
          <a:ln xmlns:a="http://schemas.openxmlformats.org/drawingml/2006/main" w="0">
            <a:solidFill>
              <a:srgbClr val="D9DEDB"/>
            </a:solidFill>
            <a:prstDash val="solid"/>
          </a:ln>
        </p:spPr>
      </p:sp>
      <p:sp>
        <p:nvSpPr>
          <p:cNvPr id="8" name="training-check-0">
            <a:extLst xmlns:a="http://schemas.openxmlformats.org/drawingml/2006/main">
              <a:ext uri="{FF2B5EF4-FFF2-40B4-BE49-F238E27FC236}">
                <a16:creationId xmlns:a16="http://schemas.microsoft.com/office/drawing/2014/main" id="{170D223B-4968-42C3-85C2-EDB1CE01B22C}"/>
              </a:ext>
            </a:extLst>
          </p:cNvPr>
          <p:cNvSpPr>
            <a:spLocks xmlns:a="http://schemas.openxmlformats.org/drawingml/2006/main" noGrp="1"/>
          </p:cNvSpPr>
          <p:nvPr/>
        </p:nvSpPr>
        <p:spPr>
          <a:xfrm xmlns:a="http://schemas.openxmlformats.org/drawingml/2006/main">
            <a:off x="6457950" y="1695450"/>
            <a:ext cx="228600" cy="228600"/>
          </a:xfrm>
          <a:prstGeom xmlns:a="http://schemas.openxmlformats.org/drawingml/2006/main" prst="ellipse">
            <a:avLst/>
          </a:prstGeom>
          <a:solidFill xmlns:a="http://schemas.openxmlformats.org/drawingml/2006/main">
            <a:srgbClr val="087F75"/>
          </a:solidFill>
          <a:ln xmlns:a="http://schemas.openxmlformats.org/drawingml/2006/main" w="0">
            <a:solidFill>
              <a:srgbClr val="087F75"/>
            </a:solidFill>
            <a:prstDash val="solid"/>
          </a:ln>
        </p:spPr>
      </p:sp>
      <p:sp>
        <p:nvSpPr>
          <p:cNvPr id="9" name="training-checkmark-0">
            <a:extLst xmlns:a="http://schemas.openxmlformats.org/drawingml/2006/main">
              <a:ext uri="{FF2B5EF4-FFF2-40B4-BE49-F238E27FC236}">
                <a16:creationId xmlns:a16="http://schemas.microsoft.com/office/drawing/2014/main" id="{92BA70D1-AF61-42AB-A628-D8E60E46FC7A}"/>
              </a:ext>
            </a:extLst>
          </p:cNvPr>
          <p:cNvSpPr>
            <a:spLocks xmlns:a="http://schemas.openxmlformats.org/drawingml/2006/main" noGrp="1"/>
          </p:cNvSpPr>
          <p:nvPr/>
        </p:nvSpPr>
        <p:spPr>
          <a:xfrm xmlns:a="http://schemas.openxmlformats.org/drawingml/2006/main">
            <a:off x="6457950" y="1676400"/>
            <a:ext cx="228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38559"/>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a:t>
            </a:r>
          </a:p>
        </p:txBody>
      </p:sp>
      <p:sp>
        <p:nvSpPr>
          <p:cNvPr id="10" name="training-head-0">
            <a:extLst xmlns:a="http://schemas.openxmlformats.org/drawingml/2006/main">
              <a:ext uri="{FF2B5EF4-FFF2-40B4-BE49-F238E27FC236}">
                <a16:creationId xmlns:a16="http://schemas.microsoft.com/office/drawing/2014/main" id="{A767EE28-07B8-40CB-A3F3-4F5F4D12244A}"/>
              </a:ext>
            </a:extLst>
          </p:cNvPr>
          <p:cNvSpPr>
            <a:spLocks xmlns:a="http://schemas.openxmlformats.org/drawingml/2006/main" noGrp="1"/>
          </p:cNvSpPr>
          <p:nvPr/>
        </p:nvSpPr>
        <p:spPr>
          <a:xfrm xmlns:a="http://schemas.openxmlformats.org/drawingml/2006/main">
            <a:off x="6858000" y="16002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l">
              <a:defRPr sz="1650" b="1">
                <a:solidFill>
                  <a:srgbClr val="14243B"/>
                </a:solidFill>
                <a:latin typeface="Arial"/>
                <a:ea typeface="Arial"/>
                <a:cs typeface="Arial"/>
              </a:defRPr>
            </a:pPr>
            <a:r>
              <a:rPr sz="1650" b="1">
                <a:solidFill>
                  <a:srgbClr val="14243B"/>
                </a:solidFill>
                <a:latin typeface="Arial"/>
                <a:ea typeface="Arial"/>
                <a:cs typeface="Arial"/>
              </a:rPr>
              <a:t>Binary cross-entropy</a:t>
            </a:r>
          </a:p>
        </p:txBody>
      </p:sp>
      <p:sp>
        <p:nvSpPr>
          <p:cNvPr id="11" name="training-body-0">
            <a:extLst xmlns:a="http://schemas.openxmlformats.org/drawingml/2006/main">
              <a:ext uri="{FF2B5EF4-FFF2-40B4-BE49-F238E27FC236}">
                <a16:creationId xmlns:a16="http://schemas.microsoft.com/office/drawing/2014/main" id="{C5F14536-A648-4E40-AB57-F2DE52435321}"/>
              </a:ext>
            </a:extLst>
          </p:cNvPr>
          <p:cNvSpPr>
            <a:spLocks xmlns:a="http://schemas.openxmlformats.org/drawingml/2006/main" noGrp="1"/>
          </p:cNvSpPr>
          <p:nvPr/>
        </p:nvSpPr>
        <p:spPr>
          <a:xfrm xmlns:a="http://schemas.openxmlformats.org/drawingml/2006/main">
            <a:off x="6858000" y="190500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p xmlns:a="http://schemas.openxmlformats.org/drawingml/2006/main">
            <a:pPr algn="l">
              <a:defRPr sz="1275" b="0">
                <a:solidFill>
                  <a:srgbClr val="536174"/>
                </a:solidFill>
                <a:latin typeface="Arial"/>
                <a:ea typeface="Arial"/>
                <a:cs typeface="Arial"/>
              </a:defRPr>
            </a:pPr>
            <a:r>
              <a:rPr sz="1275" b="0">
                <a:solidFill>
                  <a:srgbClr val="536174"/>
                </a:solidFill>
                <a:latin typeface="Arial"/>
                <a:ea typeface="Arial"/>
                <a:cs typeface="Arial"/>
              </a:rPr>
              <a:t>loss function</a:t>
            </a:r>
          </a:p>
        </p:txBody>
      </p:sp>
      <p:sp>
        <p:nvSpPr>
          <p:cNvPr id="12" name="training-check-1">
            <a:extLst xmlns:a="http://schemas.openxmlformats.org/drawingml/2006/main">
              <a:ext uri="{FF2B5EF4-FFF2-40B4-BE49-F238E27FC236}">
                <a16:creationId xmlns:a16="http://schemas.microsoft.com/office/drawing/2014/main" id="{0FF870E5-A3FD-442C-81B9-E44D58E42945}"/>
              </a:ext>
            </a:extLst>
          </p:cNvPr>
          <p:cNvSpPr>
            <a:spLocks xmlns:a="http://schemas.openxmlformats.org/drawingml/2006/main" noGrp="1"/>
          </p:cNvSpPr>
          <p:nvPr/>
        </p:nvSpPr>
        <p:spPr>
          <a:xfrm xmlns:a="http://schemas.openxmlformats.org/drawingml/2006/main">
            <a:off x="6457950" y="2495550"/>
            <a:ext cx="228600" cy="228600"/>
          </a:xfrm>
          <a:prstGeom xmlns:a="http://schemas.openxmlformats.org/drawingml/2006/main" prst="ellipse">
            <a:avLst/>
          </a:prstGeom>
          <a:solidFill xmlns:a="http://schemas.openxmlformats.org/drawingml/2006/main">
            <a:srgbClr val="087F75"/>
          </a:solidFill>
          <a:ln xmlns:a="http://schemas.openxmlformats.org/drawingml/2006/main" w="0">
            <a:solidFill>
              <a:srgbClr val="087F75"/>
            </a:solidFill>
            <a:prstDash val="solid"/>
          </a:ln>
        </p:spPr>
      </p:sp>
      <p:sp>
        <p:nvSpPr>
          <p:cNvPr id="13" name="training-checkmark-1">
            <a:extLst xmlns:a="http://schemas.openxmlformats.org/drawingml/2006/main">
              <a:ext uri="{FF2B5EF4-FFF2-40B4-BE49-F238E27FC236}">
                <a16:creationId xmlns:a16="http://schemas.microsoft.com/office/drawing/2014/main" id="{3BB90DEF-9BE7-41E1-972A-43095157DB38}"/>
              </a:ext>
            </a:extLst>
          </p:cNvPr>
          <p:cNvSpPr>
            <a:spLocks xmlns:a="http://schemas.openxmlformats.org/drawingml/2006/main" noGrp="1"/>
          </p:cNvSpPr>
          <p:nvPr/>
        </p:nvSpPr>
        <p:spPr>
          <a:xfrm xmlns:a="http://schemas.openxmlformats.org/drawingml/2006/main">
            <a:off x="6457950" y="2476500"/>
            <a:ext cx="228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38559"/>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a:t>
            </a:r>
          </a:p>
        </p:txBody>
      </p:sp>
      <p:sp>
        <p:nvSpPr>
          <p:cNvPr id="14" name="training-head-1">
            <a:extLst xmlns:a="http://schemas.openxmlformats.org/drawingml/2006/main">
              <a:ext uri="{FF2B5EF4-FFF2-40B4-BE49-F238E27FC236}">
                <a16:creationId xmlns:a16="http://schemas.microsoft.com/office/drawing/2014/main" id="{12EA7880-091A-4013-9417-13A3AB07C682}"/>
              </a:ext>
            </a:extLst>
          </p:cNvPr>
          <p:cNvSpPr>
            <a:spLocks xmlns:a="http://schemas.openxmlformats.org/drawingml/2006/main" noGrp="1"/>
          </p:cNvSpPr>
          <p:nvPr/>
        </p:nvSpPr>
        <p:spPr>
          <a:xfrm xmlns:a="http://schemas.openxmlformats.org/drawingml/2006/main">
            <a:off x="6858000" y="24003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l">
              <a:defRPr sz="1650" b="1">
                <a:solidFill>
                  <a:srgbClr val="14243B"/>
                </a:solidFill>
                <a:latin typeface="Arial"/>
                <a:ea typeface="Arial"/>
                <a:cs typeface="Arial"/>
              </a:defRPr>
            </a:pPr>
            <a:r>
              <a:rPr sz="1650" b="1">
                <a:solidFill>
                  <a:srgbClr val="14243B"/>
                </a:solidFill>
                <a:latin typeface="Arial"/>
                <a:ea typeface="Arial"/>
                <a:cs typeface="Arial"/>
              </a:rPr>
              <a:t>AdamW</a:t>
            </a:r>
          </a:p>
        </p:txBody>
      </p:sp>
      <p:sp>
        <p:nvSpPr>
          <p:cNvPr id="15" name="training-body-1">
            <a:extLst xmlns:a="http://schemas.openxmlformats.org/drawingml/2006/main">
              <a:ext uri="{FF2B5EF4-FFF2-40B4-BE49-F238E27FC236}">
                <a16:creationId xmlns:a16="http://schemas.microsoft.com/office/drawing/2014/main" id="{258A46CE-12A5-4F09-8C2E-59EEB01EB8F6}"/>
              </a:ext>
            </a:extLst>
          </p:cNvPr>
          <p:cNvSpPr>
            <a:spLocks xmlns:a="http://schemas.openxmlformats.org/drawingml/2006/main" noGrp="1"/>
          </p:cNvSpPr>
          <p:nvPr/>
        </p:nvSpPr>
        <p:spPr>
          <a:xfrm xmlns:a="http://schemas.openxmlformats.org/drawingml/2006/main">
            <a:off x="6858000" y="270510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p xmlns:a="http://schemas.openxmlformats.org/drawingml/2006/main">
            <a:pPr algn="l">
              <a:defRPr sz="1275" b="0">
                <a:solidFill>
                  <a:srgbClr val="536174"/>
                </a:solidFill>
                <a:latin typeface="Arial"/>
                <a:ea typeface="Arial"/>
                <a:cs typeface="Arial"/>
              </a:defRPr>
            </a:pPr>
            <a:r>
              <a:rPr sz="1275" b="0">
                <a:solidFill>
                  <a:srgbClr val="536174"/>
                </a:solidFill>
                <a:latin typeface="Arial"/>
                <a:ea typeface="Arial"/>
                <a:cs typeface="Arial"/>
              </a:rPr>
              <a:t>optimiser</a:t>
            </a:r>
          </a:p>
        </p:txBody>
      </p:sp>
      <p:sp>
        <p:nvSpPr>
          <p:cNvPr id="16" name="training-check-2">
            <a:extLst xmlns:a="http://schemas.openxmlformats.org/drawingml/2006/main">
              <a:ext uri="{FF2B5EF4-FFF2-40B4-BE49-F238E27FC236}">
                <a16:creationId xmlns:a16="http://schemas.microsoft.com/office/drawing/2014/main" id="{6AAE097F-23CE-4C7C-843B-242E2A185007}"/>
              </a:ext>
            </a:extLst>
          </p:cNvPr>
          <p:cNvSpPr>
            <a:spLocks xmlns:a="http://schemas.openxmlformats.org/drawingml/2006/main" noGrp="1"/>
          </p:cNvSpPr>
          <p:nvPr/>
        </p:nvSpPr>
        <p:spPr>
          <a:xfrm xmlns:a="http://schemas.openxmlformats.org/drawingml/2006/main">
            <a:off x="6457950" y="3295650"/>
            <a:ext cx="228600" cy="228600"/>
          </a:xfrm>
          <a:prstGeom xmlns:a="http://schemas.openxmlformats.org/drawingml/2006/main" prst="ellipse">
            <a:avLst/>
          </a:prstGeom>
          <a:solidFill xmlns:a="http://schemas.openxmlformats.org/drawingml/2006/main">
            <a:srgbClr val="087F75"/>
          </a:solidFill>
          <a:ln xmlns:a="http://schemas.openxmlformats.org/drawingml/2006/main" w="0">
            <a:solidFill>
              <a:srgbClr val="087F75"/>
            </a:solidFill>
            <a:prstDash val="solid"/>
          </a:ln>
        </p:spPr>
      </p:sp>
      <p:sp>
        <p:nvSpPr>
          <p:cNvPr id="17" name="training-checkmark-2">
            <a:extLst xmlns:a="http://schemas.openxmlformats.org/drawingml/2006/main">
              <a:ext uri="{FF2B5EF4-FFF2-40B4-BE49-F238E27FC236}">
                <a16:creationId xmlns:a16="http://schemas.microsoft.com/office/drawing/2014/main" id="{8A0971C8-1576-4B3E-B887-E272370D2FCB}"/>
              </a:ext>
            </a:extLst>
          </p:cNvPr>
          <p:cNvSpPr>
            <a:spLocks xmlns:a="http://schemas.openxmlformats.org/drawingml/2006/main" noGrp="1"/>
          </p:cNvSpPr>
          <p:nvPr/>
        </p:nvSpPr>
        <p:spPr>
          <a:xfrm xmlns:a="http://schemas.openxmlformats.org/drawingml/2006/main">
            <a:off x="6457950" y="3276600"/>
            <a:ext cx="228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38559"/>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a:t>
            </a:r>
          </a:p>
        </p:txBody>
      </p:sp>
      <p:sp>
        <p:nvSpPr>
          <p:cNvPr id="18" name="training-head-2">
            <a:extLst xmlns:a="http://schemas.openxmlformats.org/drawingml/2006/main">
              <a:ext uri="{FF2B5EF4-FFF2-40B4-BE49-F238E27FC236}">
                <a16:creationId xmlns:a16="http://schemas.microsoft.com/office/drawing/2014/main" id="{98B4B6CA-9799-4FAF-9B6A-D1335CAF3634}"/>
              </a:ext>
            </a:extLst>
          </p:cNvPr>
          <p:cNvSpPr>
            <a:spLocks xmlns:a="http://schemas.openxmlformats.org/drawingml/2006/main" noGrp="1"/>
          </p:cNvSpPr>
          <p:nvPr/>
        </p:nvSpPr>
        <p:spPr>
          <a:xfrm xmlns:a="http://schemas.openxmlformats.org/drawingml/2006/main">
            <a:off x="6858000" y="32004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l">
              <a:defRPr sz="1650" b="1">
                <a:solidFill>
                  <a:srgbClr val="14243B"/>
                </a:solidFill>
                <a:latin typeface="Arial"/>
                <a:ea typeface="Arial"/>
                <a:cs typeface="Arial"/>
              </a:defRPr>
            </a:pPr>
            <a:r>
              <a:rPr sz="1650" b="1">
                <a:solidFill>
                  <a:srgbClr val="14243B"/>
                </a:solidFill>
                <a:latin typeface="Arial"/>
                <a:ea typeface="Arial"/>
                <a:cs typeface="Arial"/>
              </a:rPr>
              <a:t>128 reviews</a:t>
            </a:r>
          </a:p>
        </p:txBody>
      </p:sp>
      <p:sp>
        <p:nvSpPr>
          <p:cNvPr id="19" name="training-body-2">
            <a:extLst xmlns:a="http://schemas.openxmlformats.org/drawingml/2006/main">
              <a:ext uri="{FF2B5EF4-FFF2-40B4-BE49-F238E27FC236}">
                <a16:creationId xmlns:a16="http://schemas.microsoft.com/office/drawing/2014/main" id="{6384B5E7-EB1A-4A1F-BEFD-B1AE591724EB}"/>
              </a:ext>
            </a:extLst>
          </p:cNvPr>
          <p:cNvSpPr>
            <a:spLocks xmlns:a="http://schemas.openxmlformats.org/drawingml/2006/main" noGrp="1"/>
          </p:cNvSpPr>
          <p:nvPr/>
        </p:nvSpPr>
        <p:spPr>
          <a:xfrm xmlns:a="http://schemas.openxmlformats.org/drawingml/2006/main">
            <a:off x="6858000" y="350520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p xmlns:a="http://schemas.openxmlformats.org/drawingml/2006/main">
            <a:pPr algn="l">
              <a:defRPr sz="1275" b="0">
                <a:solidFill>
                  <a:srgbClr val="536174"/>
                </a:solidFill>
                <a:latin typeface="Arial"/>
                <a:ea typeface="Arial"/>
                <a:cs typeface="Arial"/>
              </a:defRPr>
            </a:pPr>
            <a:r>
              <a:rPr sz="1275" b="0">
                <a:solidFill>
                  <a:srgbClr val="536174"/>
                </a:solidFill>
                <a:latin typeface="Arial"/>
                <a:ea typeface="Arial"/>
                <a:cs typeface="Arial"/>
              </a:rPr>
              <a:t>batch size</a:t>
            </a:r>
          </a:p>
        </p:txBody>
      </p:sp>
      <p:sp>
        <p:nvSpPr>
          <p:cNvPr id="20" name="training-check-3">
            <a:extLst xmlns:a="http://schemas.openxmlformats.org/drawingml/2006/main">
              <a:ext uri="{FF2B5EF4-FFF2-40B4-BE49-F238E27FC236}">
                <a16:creationId xmlns:a16="http://schemas.microsoft.com/office/drawing/2014/main" id="{ED823EC4-23FB-4073-B9AD-55FE491B8ED7}"/>
              </a:ext>
            </a:extLst>
          </p:cNvPr>
          <p:cNvSpPr>
            <a:spLocks xmlns:a="http://schemas.openxmlformats.org/drawingml/2006/main" noGrp="1"/>
          </p:cNvSpPr>
          <p:nvPr/>
        </p:nvSpPr>
        <p:spPr>
          <a:xfrm xmlns:a="http://schemas.openxmlformats.org/drawingml/2006/main">
            <a:off x="6457950" y="4095750"/>
            <a:ext cx="228600" cy="228600"/>
          </a:xfrm>
          <a:prstGeom xmlns:a="http://schemas.openxmlformats.org/drawingml/2006/main" prst="ellipse">
            <a:avLst/>
          </a:prstGeom>
          <a:solidFill xmlns:a="http://schemas.openxmlformats.org/drawingml/2006/main">
            <a:srgbClr val="087F75"/>
          </a:solidFill>
          <a:ln xmlns:a="http://schemas.openxmlformats.org/drawingml/2006/main" w="0">
            <a:solidFill>
              <a:srgbClr val="087F75"/>
            </a:solidFill>
            <a:prstDash val="solid"/>
          </a:ln>
        </p:spPr>
      </p:sp>
      <p:sp>
        <p:nvSpPr>
          <p:cNvPr id="21" name="training-checkmark-3">
            <a:extLst xmlns:a="http://schemas.openxmlformats.org/drawingml/2006/main">
              <a:ext uri="{FF2B5EF4-FFF2-40B4-BE49-F238E27FC236}">
                <a16:creationId xmlns:a16="http://schemas.microsoft.com/office/drawing/2014/main" id="{A50E0CC0-3902-49CF-98C3-2FAD8EF45875}"/>
              </a:ext>
            </a:extLst>
          </p:cNvPr>
          <p:cNvSpPr>
            <a:spLocks xmlns:a="http://schemas.openxmlformats.org/drawingml/2006/main" noGrp="1"/>
          </p:cNvSpPr>
          <p:nvPr/>
        </p:nvSpPr>
        <p:spPr>
          <a:xfrm xmlns:a="http://schemas.openxmlformats.org/drawingml/2006/main">
            <a:off x="6457950" y="4076700"/>
            <a:ext cx="228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38559"/>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a:t>
            </a:r>
          </a:p>
        </p:txBody>
      </p:sp>
      <p:sp>
        <p:nvSpPr>
          <p:cNvPr id="22" name="training-head-3">
            <a:extLst xmlns:a="http://schemas.openxmlformats.org/drawingml/2006/main">
              <a:ext uri="{FF2B5EF4-FFF2-40B4-BE49-F238E27FC236}">
                <a16:creationId xmlns:a16="http://schemas.microsoft.com/office/drawing/2014/main" id="{74F76ACF-F50F-4459-864F-1CEA2396F1EC}"/>
              </a:ext>
            </a:extLst>
          </p:cNvPr>
          <p:cNvSpPr>
            <a:spLocks xmlns:a="http://schemas.openxmlformats.org/drawingml/2006/main" noGrp="1"/>
          </p:cNvSpPr>
          <p:nvPr/>
        </p:nvSpPr>
        <p:spPr>
          <a:xfrm xmlns:a="http://schemas.openxmlformats.org/drawingml/2006/main">
            <a:off x="6858000" y="40005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l">
              <a:defRPr sz="1650" b="1">
                <a:solidFill>
                  <a:srgbClr val="14243B"/>
                </a:solidFill>
                <a:latin typeface="Arial"/>
                <a:ea typeface="Arial"/>
                <a:cs typeface="Arial"/>
              </a:defRPr>
            </a:pPr>
            <a:r>
              <a:rPr sz="1650" b="1">
                <a:solidFill>
                  <a:srgbClr val="14243B"/>
                </a:solidFill>
                <a:latin typeface="Arial"/>
                <a:ea typeface="Arial"/>
                <a:cs typeface="Arial"/>
              </a:rPr>
              <a:t>Early stopping</a:t>
            </a:r>
          </a:p>
        </p:txBody>
      </p:sp>
      <p:sp>
        <p:nvSpPr>
          <p:cNvPr id="23" name="training-body-3">
            <a:extLst xmlns:a="http://schemas.openxmlformats.org/drawingml/2006/main">
              <a:ext uri="{FF2B5EF4-FFF2-40B4-BE49-F238E27FC236}">
                <a16:creationId xmlns:a16="http://schemas.microsoft.com/office/drawing/2014/main" id="{98B59032-EAB0-4B1B-BE9E-4173D2878712}"/>
              </a:ext>
            </a:extLst>
          </p:cNvPr>
          <p:cNvSpPr>
            <a:spLocks xmlns:a="http://schemas.openxmlformats.org/drawingml/2006/main" noGrp="1"/>
          </p:cNvSpPr>
          <p:nvPr/>
        </p:nvSpPr>
        <p:spPr>
          <a:xfrm xmlns:a="http://schemas.openxmlformats.org/drawingml/2006/main">
            <a:off x="6858000" y="430530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p xmlns:a="http://schemas.openxmlformats.org/drawingml/2006/main">
            <a:pPr algn="l">
              <a:defRPr sz="1275" b="0">
                <a:solidFill>
                  <a:srgbClr val="536174"/>
                </a:solidFill>
                <a:latin typeface="Arial"/>
                <a:ea typeface="Arial"/>
                <a:cs typeface="Arial"/>
              </a:defRPr>
            </a:pPr>
            <a:r>
              <a:rPr sz="1275" b="0">
                <a:solidFill>
                  <a:srgbClr val="536174"/>
                </a:solidFill>
                <a:latin typeface="Arial"/>
                <a:ea typeface="Arial"/>
                <a:cs typeface="Arial"/>
              </a:rPr>
              <a:t>best validation checkpoint</a:t>
            </a:r>
          </a:p>
        </p:txBody>
      </p:sp>
      <p:sp>
        <p:nvSpPr>
          <p:cNvPr id="24" name="training-check-4">
            <a:extLst xmlns:a="http://schemas.openxmlformats.org/drawingml/2006/main">
              <a:ext uri="{FF2B5EF4-FFF2-40B4-BE49-F238E27FC236}">
                <a16:creationId xmlns:a16="http://schemas.microsoft.com/office/drawing/2014/main" id="{6F8741A3-F333-4AD6-814A-A3D124EB921D}"/>
              </a:ext>
            </a:extLst>
          </p:cNvPr>
          <p:cNvSpPr>
            <a:spLocks xmlns:a="http://schemas.openxmlformats.org/drawingml/2006/main" noGrp="1"/>
          </p:cNvSpPr>
          <p:nvPr/>
        </p:nvSpPr>
        <p:spPr>
          <a:xfrm xmlns:a="http://schemas.openxmlformats.org/drawingml/2006/main">
            <a:off x="6457950" y="4895850"/>
            <a:ext cx="228600" cy="228600"/>
          </a:xfrm>
          <a:prstGeom xmlns:a="http://schemas.openxmlformats.org/drawingml/2006/main" prst="ellipse">
            <a:avLst/>
          </a:prstGeom>
          <a:solidFill xmlns:a="http://schemas.openxmlformats.org/drawingml/2006/main">
            <a:srgbClr val="087F75"/>
          </a:solidFill>
          <a:ln xmlns:a="http://schemas.openxmlformats.org/drawingml/2006/main" w="0">
            <a:solidFill>
              <a:srgbClr val="087F75"/>
            </a:solidFill>
            <a:prstDash val="solid"/>
          </a:ln>
        </p:spPr>
      </p:sp>
      <p:sp>
        <p:nvSpPr>
          <p:cNvPr id="25" name="training-checkmark-4">
            <a:extLst xmlns:a="http://schemas.openxmlformats.org/drawingml/2006/main">
              <a:ext uri="{FF2B5EF4-FFF2-40B4-BE49-F238E27FC236}">
                <a16:creationId xmlns:a16="http://schemas.microsoft.com/office/drawing/2014/main" id="{407CF343-6100-4210-8151-67B240B8F5CA}"/>
              </a:ext>
            </a:extLst>
          </p:cNvPr>
          <p:cNvSpPr>
            <a:spLocks xmlns:a="http://schemas.openxmlformats.org/drawingml/2006/main" noGrp="1"/>
          </p:cNvSpPr>
          <p:nvPr/>
        </p:nvSpPr>
        <p:spPr>
          <a:xfrm xmlns:a="http://schemas.openxmlformats.org/drawingml/2006/main">
            <a:off x="6457950" y="4876800"/>
            <a:ext cx="228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38559"/>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a:t>
            </a:r>
          </a:p>
        </p:txBody>
      </p:sp>
      <p:sp>
        <p:nvSpPr>
          <p:cNvPr id="26" name="training-head-4">
            <a:extLst xmlns:a="http://schemas.openxmlformats.org/drawingml/2006/main">
              <a:ext uri="{FF2B5EF4-FFF2-40B4-BE49-F238E27FC236}">
                <a16:creationId xmlns:a16="http://schemas.microsoft.com/office/drawing/2014/main" id="{9251813B-761F-48B7-B782-98647E4AF81A}"/>
              </a:ext>
            </a:extLst>
          </p:cNvPr>
          <p:cNvSpPr>
            <a:spLocks xmlns:a="http://schemas.openxmlformats.org/drawingml/2006/main" noGrp="1"/>
          </p:cNvSpPr>
          <p:nvPr/>
        </p:nvSpPr>
        <p:spPr>
          <a:xfrm xmlns:a="http://schemas.openxmlformats.org/drawingml/2006/main">
            <a:off x="6858000" y="48006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l">
              <a:defRPr sz="1650" b="1">
                <a:solidFill>
                  <a:srgbClr val="14243B"/>
                </a:solidFill>
                <a:latin typeface="Arial"/>
                <a:ea typeface="Arial"/>
                <a:cs typeface="Arial"/>
              </a:defRPr>
            </a:pPr>
            <a:r>
              <a:rPr sz="1650" b="1">
                <a:solidFill>
                  <a:srgbClr val="14243B"/>
                </a:solidFill>
                <a:latin typeface="Arial"/>
                <a:ea typeface="Arial"/>
                <a:cs typeface="Arial"/>
              </a:rPr>
              <a:t>Gradient clipping</a:t>
            </a:r>
          </a:p>
        </p:txBody>
      </p:sp>
      <p:sp>
        <p:nvSpPr>
          <p:cNvPr id="27" name="training-body-4">
            <a:extLst xmlns:a="http://schemas.openxmlformats.org/drawingml/2006/main">
              <a:ext uri="{FF2B5EF4-FFF2-40B4-BE49-F238E27FC236}">
                <a16:creationId xmlns:a16="http://schemas.microsoft.com/office/drawing/2014/main" id="{E7F8CCFB-4F46-408F-B131-7CF4848B3F77}"/>
              </a:ext>
            </a:extLst>
          </p:cNvPr>
          <p:cNvSpPr>
            <a:spLocks xmlns:a="http://schemas.openxmlformats.org/drawingml/2006/main" noGrp="1"/>
          </p:cNvSpPr>
          <p:nvPr/>
        </p:nvSpPr>
        <p:spPr>
          <a:xfrm xmlns:a="http://schemas.openxmlformats.org/drawingml/2006/main">
            <a:off x="6858000" y="510540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p xmlns:a="http://schemas.openxmlformats.org/drawingml/2006/main">
            <a:pPr algn="l">
              <a:defRPr sz="1275" b="0">
                <a:solidFill>
                  <a:srgbClr val="536174"/>
                </a:solidFill>
                <a:latin typeface="Arial"/>
                <a:ea typeface="Arial"/>
                <a:cs typeface="Arial"/>
              </a:defRPr>
            </a:pPr>
            <a:r>
              <a:rPr sz="1275" b="0">
                <a:solidFill>
                  <a:srgbClr val="536174"/>
                </a:solidFill>
                <a:latin typeface="Arial"/>
                <a:ea typeface="Arial"/>
                <a:cs typeface="Arial"/>
              </a:rPr>
              <a:t>stable updates</a:t>
            </a:r>
          </a:p>
        </p:txBody>
      </p:sp>
    </p:spTree>
    <p:extLst>
      <p:ext uri="{BB962C8B-B14F-4D97-AF65-F5344CB8AC3E}">
        <p14:creationId xmlns:p14="http://schemas.microsoft.com/office/powerpoint/2010/main" val="5716955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6-title">
            <a:extLst xmlns:a="http://schemas.openxmlformats.org/drawingml/2006/main">
              <a:ext uri="{FF2B5EF4-FFF2-40B4-BE49-F238E27FC236}">
                <a16:creationId xmlns:a16="http://schemas.microsoft.com/office/drawing/2014/main" id="{AE2FD811-189E-46EC-91B2-7F43FBF5101D}"/>
              </a:ext>
            </a:extLst>
          </p:cNvPr>
          <p:cNvSpPr>
            <a:spLocks xmlns:a="http://schemas.openxmlformats.org/drawingml/2006/main" noGrp="1"/>
          </p:cNvSpPr>
          <p:nvPr/>
        </p:nvSpPr>
        <p:spPr>
          <a:xfrm xmlns:a="http://schemas.openxmlformats.org/drawingml/2006/main">
            <a:off x="514350" y="381000"/>
            <a:ext cx="10572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150" b="1">
                <a:solidFill>
                  <a:srgbClr val="14243B"/>
                </a:solidFill>
                <a:latin typeface="Arial"/>
                <a:ea typeface="Arial"/>
                <a:cs typeface="Arial"/>
              </a:defRPr>
            </a:pPr>
            <a:r>
              <a:rPr sz="3150" b="1">
                <a:solidFill>
                  <a:srgbClr val="14243B"/>
                </a:solidFill>
                <a:latin typeface="Arial"/>
                <a:ea typeface="Arial"/>
                <a:cs typeface="Arial"/>
              </a:rPr>
              <a:t>The held-out test set shows balanced performance</a:t>
            </a:r>
          </a:p>
        </p:txBody>
      </p:sp>
      <p:sp>
        <p:nvSpPr>
          <p:cNvPr id="2" name="slide-6-number">
            <a:extLst xmlns:a="http://schemas.openxmlformats.org/drawingml/2006/main">
              <a:ext uri="{FF2B5EF4-FFF2-40B4-BE49-F238E27FC236}">
                <a16:creationId xmlns:a16="http://schemas.microsoft.com/office/drawing/2014/main" id="{0AC25083-ACE7-45D0-BC74-95B75D36C82C}"/>
              </a:ext>
            </a:extLst>
          </p:cNvPr>
          <p:cNvSpPr>
            <a:spLocks xmlns:a="http://schemas.openxmlformats.org/drawingml/2006/main" noGrp="1"/>
          </p:cNvSpPr>
          <p:nvPr/>
        </p:nvSpPr>
        <p:spPr>
          <a:xfrm xmlns:a="http://schemas.openxmlformats.org/drawingml/2006/main">
            <a:off x="11191875" y="62293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66667"/>
          </a:bodyPr>
          <a:lstStyle xmlns:a="http://schemas.openxmlformats.org/drawingml/2006/main"/>
          <a:p xmlns:a="http://schemas.openxmlformats.org/drawingml/2006/main">
            <a:pPr algn="r">
              <a:defRPr sz="975" b="0">
                <a:solidFill>
                  <a:srgbClr val="536174"/>
                </a:solidFill>
                <a:latin typeface="Arial"/>
                <a:ea typeface="Arial"/>
                <a:cs typeface="Arial"/>
              </a:defRPr>
            </a:pPr>
            <a:r>
              <a:rPr sz="975" b="0">
                <a:solidFill>
                  <a:srgbClr val="536174"/>
                </a:solidFill>
                <a:latin typeface="Arial"/>
                <a:ea typeface="Arial"/>
                <a:cs typeface="Arial"/>
              </a:rPr>
              <a:t>06</a:t>
            </a:r>
          </a:p>
        </p:txBody>
      </p:sp>
      <p:graphicFrame>
        <p:nvGraphicFramePr>
          <p:cNvPr id="23" name="Chart"/>
          <p:cNvGraphicFramePr/>
          <p:nvPr/>
        </p:nvGraphicFramePr>
        <p:xfrm>
          <a:off xmlns:a="http://schemas.openxmlformats.org/drawingml/2006/main" x="514350" y="1571625"/>
          <a:ext xmlns:a="http://schemas.openxmlformats.org/drawingml/2006/main" cx="5619750" cy="4095750"/>
        </p:xfrm>
        <a:graphic xmlns:a="http://schemas.openxmlformats.org/drawingml/2006/main">
          <a:graphicData uri="http://schemas.openxmlformats.org/drawingml/2006/chart">
            <c:chart xmlns:r="http://schemas.openxmlformats.org/officeDocument/2006/relationships" xmlns:c="http://schemas.openxmlformats.org/drawingml/2006/chart" r:id="R3f12592f6d8e4b08"/>
          </a:graphicData>
        </a:graphic>
      </p:graphicFrame>
      <p:sp>
        <p:nvSpPr>
          <p:cNvPr id="4" name="matrix-title">
            <a:extLst xmlns:a="http://schemas.openxmlformats.org/drawingml/2006/main">
              <a:ext uri="{FF2B5EF4-FFF2-40B4-BE49-F238E27FC236}">
                <a16:creationId xmlns:a16="http://schemas.microsoft.com/office/drawing/2014/main" id="{21E71016-D578-44FB-A1A3-3956CBC3E826}"/>
              </a:ext>
            </a:extLst>
          </p:cNvPr>
          <p:cNvSpPr>
            <a:spLocks xmlns:a="http://schemas.openxmlformats.org/drawingml/2006/main" noGrp="1"/>
          </p:cNvSpPr>
          <p:nvPr/>
        </p:nvSpPr>
        <p:spPr>
          <a:xfrm xmlns:a="http://schemas.openxmlformats.org/drawingml/2006/main">
            <a:off x="6858000" y="1524000"/>
            <a:ext cx="409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4243B"/>
                </a:solidFill>
                <a:latin typeface="Arial"/>
                <a:ea typeface="Arial"/>
                <a:cs typeface="Arial"/>
              </a:defRPr>
            </a:pPr>
            <a:r>
              <a:rPr sz="1875" b="1">
                <a:solidFill>
                  <a:srgbClr val="14243B"/>
                </a:solidFill>
                <a:latin typeface="Arial"/>
                <a:ea typeface="Arial"/>
                <a:cs typeface="Arial"/>
              </a:rPr>
              <a:t>Confusion matrix</a:t>
            </a:r>
          </a:p>
        </p:txBody>
      </p:sp>
      <p:sp>
        <p:nvSpPr>
          <p:cNvPr id="5" name="matrix-axis">
            <a:extLst xmlns:a="http://schemas.openxmlformats.org/drawingml/2006/main">
              <a:ext uri="{FF2B5EF4-FFF2-40B4-BE49-F238E27FC236}">
                <a16:creationId xmlns:a16="http://schemas.microsoft.com/office/drawing/2014/main" id="{1329CA71-F234-4344-8954-44CCEF43AC35}"/>
              </a:ext>
            </a:extLst>
          </p:cNvPr>
          <p:cNvSpPr>
            <a:spLocks xmlns:a="http://schemas.openxmlformats.org/drawingml/2006/main" noGrp="1"/>
          </p:cNvSpPr>
          <p:nvPr/>
        </p:nvSpPr>
        <p:spPr>
          <a:xfrm xmlns:a="http://schemas.openxmlformats.org/drawingml/2006/main">
            <a:off x="8020050" y="19812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ctr">
              <a:defRPr sz="1275" b="0">
                <a:solidFill>
                  <a:srgbClr val="536174"/>
                </a:solidFill>
                <a:latin typeface="Arial"/>
                <a:ea typeface="Arial"/>
                <a:cs typeface="Arial"/>
              </a:defRPr>
            </a:pPr>
            <a:r>
              <a:rPr sz="1275" b="0">
                <a:solidFill>
                  <a:srgbClr val="536174"/>
                </a:solidFill>
                <a:latin typeface="Arial"/>
                <a:ea typeface="Arial"/>
                <a:cs typeface="Arial"/>
              </a:rPr>
              <a:t>Predicted label</a:t>
            </a:r>
          </a:p>
        </p:txBody>
      </p:sp>
      <p:sp>
        <p:nvSpPr>
          <p:cNvPr id="6" name="matrix-neg-head">
            <a:extLst xmlns:a="http://schemas.openxmlformats.org/drawingml/2006/main">
              <a:ext uri="{FF2B5EF4-FFF2-40B4-BE49-F238E27FC236}">
                <a16:creationId xmlns:a16="http://schemas.microsoft.com/office/drawing/2014/main" id="{28456E54-9888-4D8F-AE5E-E8CA6F0F09BA}"/>
              </a:ext>
            </a:extLst>
          </p:cNvPr>
          <p:cNvSpPr>
            <a:spLocks xmlns:a="http://schemas.openxmlformats.org/drawingml/2006/main" noGrp="1"/>
          </p:cNvSpPr>
          <p:nvPr/>
        </p:nvSpPr>
        <p:spPr>
          <a:xfrm xmlns:a="http://schemas.openxmlformats.org/drawingml/2006/main">
            <a:off x="7762875" y="23431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ctr">
              <a:defRPr sz="1275" b="1">
                <a:solidFill>
                  <a:srgbClr val="14243B"/>
                </a:solidFill>
                <a:latin typeface="Arial"/>
                <a:ea typeface="Arial"/>
                <a:cs typeface="Arial"/>
              </a:defRPr>
            </a:pPr>
            <a:r>
              <a:rPr sz="1275" b="1">
                <a:solidFill>
                  <a:srgbClr val="14243B"/>
                </a:solidFill>
                <a:latin typeface="Arial"/>
                <a:ea typeface="Arial"/>
                <a:cs typeface="Arial"/>
              </a:rPr>
              <a:t>Negative</a:t>
            </a:r>
          </a:p>
        </p:txBody>
      </p:sp>
      <p:sp>
        <p:nvSpPr>
          <p:cNvPr id="7" name="matrix-pos-head">
            <a:extLst xmlns:a="http://schemas.openxmlformats.org/drawingml/2006/main">
              <a:ext uri="{FF2B5EF4-FFF2-40B4-BE49-F238E27FC236}">
                <a16:creationId xmlns:a16="http://schemas.microsoft.com/office/drawing/2014/main" id="{6D3E9BCE-01E1-4168-AACB-4D4E09DE4486}"/>
              </a:ext>
            </a:extLst>
          </p:cNvPr>
          <p:cNvSpPr>
            <a:spLocks xmlns:a="http://schemas.openxmlformats.org/drawingml/2006/main" noGrp="1"/>
          </p:cNvSpPr>
          <p:nvPr/>
        </p:nvSpPr>
        <p:spPr>
          <a:xfrm xmlns:a="http://schemas.openxmlformats.org/drawingml/2006/main">
            <a:off x="9229725" y="23431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ctr">
              <a:defRPr sz="1275" b="1">
                <a:solidFill>
                  <a:srgbClr val="14243B"/>
                </a:solidFill>
                <a:latin typeface="Arial"/>
                <a:ea typeface="Arial"/>
                <a:cs typeface="Arial"/>
              </a:defRPr>
            </a:pPr>
            <a:r>
              <a:rPr sz="1275" b="1">
                <a:solidFill>
                  <a:srgbClr val="14243B"/>
                </a:solidFill>
                <a:latin typeface="Arial"/>
                <a:ea typeface="Arial"/>
                <a:cs typeface="Arial"/>
              </a:rPr>
              <a:t>Positive</a:t>
            </a:r>
          </a:p>
        </p:txBody>
      </p:sp>
      <p:sp>
        <p:nvSpPr>
          <p:cNvPr id="8" name="matrix-actual-neg">
            <a:extLst xmlns:a="http://schemas.openxmlformats.org/drawingml/2006/main">
              <a:ext uri="{FF2B5EF4-FFF2-40B4-BE49-F238E27FC236}">
                <a16:creationId xmlns:a16="http://schemas.microsoft.com/office/drawing/2014/main" id="{B45FE299-BB81-4618-9EA0-B45BA9C00F4A}"/>
              </a:ext>
            </a:extLst>
          </p:cNvPr>
          <p:cNvSpPr>
            <a:spLocks xmlns:a="http://schemas.openxmlformats.org/drawingml/2006/main" noGrp="1"/>
          </p:cNvSpPr>
          <p:nvPr/>
        </p:nvSpPr>
        <p:spPr>
          <a:xfrm xmlns:a="http://schemas.openxmlformats.org/drawingml/2006/main">
            <a:off x="6429375" y="2905125"/>
            <a:ext cx="123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r">
              <a:defRPr sz="1200" b="0">
                <a:solidFill>
                  <a:srgbClr val="536174"/>
                </a:solidFill>
                <a:latin typeface="Arial"/>
                <a:ea typeface="Arial"/>
                <a:cs typeface="Arial"/>
              </a:defRPr>
            </a:pPr>
            <a:r>
              <a:rPr sz="1200" b="0">
                <a:solidFill>
                  <a:srgbClr val="536174"/>
                </a:solidFill>
                <a:latin typeface="Arial"/>
                <a:ea typeface="Arial"/>
                <a:cs typeface="Arial"/>
              </a:rPr>
              <a:t>Actual negative</a:t>
            </a:r>
          </a:p>
        </p:txBody>
      </p:sp>
      <p:sp>
        <p:nvSpPr>
          <p:cNvPr id="9" name="matrix-actual-pos">
            <a:extLst xmlns:a="http://schemas.openxmlformats.org/drawingml/2006/main">
              <a:ext uri="{FF2B5EF4-FFF2-40B4-BE49-F238E27FC236}">
                <a16:creationId xmlns:a16="http://schemas.microsoft.com/office/drawing/2014/main" id="{89E6D492-0B3D-4DDA-9334-FBEF4442DA87}"/>
              </a:ext>
            </a:extLst>
          </p:cNvPr>
          <p:cNvSpPr>
            <a:spLocks xmlns:a="http://schemas.openxmlformats.org/drawingml/2006/main" noGrp="1"/>
          </p:cNvSpPr>
          <p:nvPr/>
        </p:nvSpPr>
        <p:spPr>
          <a:xfrm xmlns:a="http://schemas.openxmlformats.org/drawingml/2006/main">
            <a:off x="6429375" y="3914775"/>
            <a:ext cx="123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r">
              <a:defRPr sz="1200" b="0">
                <a:solidFill>
                  <a:srgbClr val="536174"/>
                </a:solidFill>
                <a:latin typeface="Arial"/>
                <a:ea typeface="Arial"/>
                <a:cs typeface="Arial"/>
              </a:defRPr>
            </a:pPr>
            <a:r>
              <a:rPr sz="1200" b="0">
                <a:solidFill>
                  <a:srgbClr val="536174"/>
                </a:solidFill>
                <a:latin typeface="Arial"/>
                <a:ea typeface="Arial"/>
                <a:cs typeface="Arial"/>
              </a:rPr>
              <a:t>Actual positive</a:t>
            </a:r>
          </a:p>
        </p:txBody>
      </p:sp>
      <p:sp>
        <p:nvSpPr>
          <p:cNvPr id="10" name="matrix-cell-0">
            <a:extLst xmlns:a="http://schemas.openxmlformats.org/drawingml/2006/main">
              <a:ext uri="{FF2B5EF4-FFF2-40B4-BE49-F238E27FC236}">
                <a16:creationId xmlns:a16="http://schemas.microsoft.com/office/drawing/2014/main" id="{6888B312-F096-42CE-9D1A-0610308063A2}"/>
              </a:ext>
            </a:extLst>
          </p:cNvPr>
          <p:cNvSpPr>
            <a:spLocks xmlns:a="http://schemas.openxmlformats.org/drawingml/2006/main" noGrp="1"/>
          </p:cNvSpPr>
          <p:nvPr/>
        </p:nvSpPr>
        <p:spPr>
          <a:xfrm xmlns:a="http://schemas.openxmlformats.org/drawingml/2006/main">
            <a:off x="7762875" y="2762250"/>
            <a:ext cx="1381125" cy="895350"/>
          </a:xfrm>
          <a:prstGeom xmlns:a="http://schemas.openxmlformats.org/drawingml/2006/main" prst="rect">
            <a:avLst/>
          </a:prstGeom>
          <a:solidFill xmlns:a="http://schemas.openxmlformats.org/drawingml/2006/main">
            <a:srgbClr val="087F75"/>
          </a:solidFill>
          <a:ln xmlns:a="http://schemas.openxmlformats.org/drawingml/2006/main" w="19050">
            <a:solidFill>
              <a:srgbClr val="FFFFFF"/>
            </a:solidFill>
            <a:prstDash val="solid"/>
          </a:ln>
        </p:spPr>
      </p:sp>
      <p:sp>
        <p:nvSpPr>
          <p:cNvPr id="11" name="matrix-value-0">
            <a:extLst xmlns:a="http://schemas.openxmlformats.org/drawingml/2006/main">
              <a:ext uri="{FF2B5EF4-FFF2-40B4-BE49-F238E27FC236}">
                <a16:creationId xmlns:a16="http://schemas.microsoft.com/office/drawing/2014/main" id="{F77EAC01-C713-4A49-A6EB-CD5545321C36}"/>
              </a:ext>
            </a:extLst>
          </p:cNvPr>
          <p:cNvSpPr>
            <a:spLocks xmlns:a="http://schemas.openxmlformats.org/drawingml/2006/main" noGrp="1"/>
          </p:cNvSpPr>
          <p:nvPr/>
        </p:nvSpPr>
        <p:spPr>
          <a:xfrm xmlns:a="http://schemas.openxmlformats.org/drawingml/2006/main">
            <a:off x="7762875" y="2990850"/>
            <a:ext cx="1381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73"/>
          </a:bodyPr>
          <a:lstStyle xmlns:a="http://schemas.openxmlformats.org/drawingml/2006/main"/>
          <a:p xmlns:a="http://schemas.openxmlformats.org/drawingml/2006/main">
            <a:pPr algn="ctr">
              <a:defRPr sz="2325" b="1">
                <a:solidFill>
                  <a:srgbClr val="FFFFFF"/>
                </a:solidFill>
                <a:latin typeface="Arial"/>
                <a:ea typeface="Arial"/>
                <a:cs typeface="Arial"/>
              </a:defRPr>
            </a:pPr>
            <a:r>
              <a:rPr sz="2325" b="1">
                <a:solidFill>
                  <a:srgbClr val="FFFFFF"/>
                </a:solidFill>
                <a:latin typeface="Arial"/>
                <a:ea typeface="Arial"/>
                <a:cs typeface="Arial"/>
              </a:rPr>
              <a:t>484</a:t>
            </a:r>
          </a:p>
        </p:txBody>
      </p:sp>
      <p:sp>
        <p:nvSpPr>
          <p:cNvPr id="12" name="matrix-cell-1">
            <a:extLst xmlns:a="http://schemas.openxmlformats.org/drawingml/2006/main">
              <a:ext uri="{FF2B5EF4-FFF2-40B4-BE49-F238E27FC236}">
                <a16:creationId xmlns:a16="http://schemas.microsoft.com/office/drawing/2014/main" id="{A70EF773-674A-4BB6-867D-8ADEA1191309}"/>
              </a:ext>
            </a:extLst>
          </p:cNvPr>
          <p:cNvSpPr>
            <a:spLocks xmlns:a="http://schemas.openxmlformats.org/drawingml/2006/main" noGrp="1"/>
          </p:cNvSpPr>
          <p:nvPr/>
        </p:nvSpPr>
        <p:spPr>
          <a:xfrm xmlns:a="http://schemas.openxmlformats.org/drawingml/2006/main">
            <a:off x="9229725" y="2762250"/>
            <a:ext cx="1381125" cy="895350"/>
          </a:xfrm>
          <a:prstGeom xmlns:a="http://schemas.openxmlformats.org/drawingml/2006/main" prst="rect">
            <a:avLst/>
          </a:prstGeom>
          <a:solidFill xmlns:a="http://schemas.openxmlformats.org/drawingml/2006/main">
            <a:srgbClr val="FAE8E3"/>
          </a:solidFill>
          <a:ln xmlns:a="http://schemas.openxmlformats.org/drawingml/2006/main" w="19050">
            <a:solidFill>
              <a:srgbClr val="FFFFFF"/>
            </a:solidFill>
            <a:prstDash val="solid"/>
          </a:ln>
        </p:spPr>
      </p:sp>
      <p:sp>
        <p:nvSpPr>
          <p:cNvPr id="13" name="matrix-value-1">
            <a:extLst xmlns:a="http://schemas.openxmlformats.org/drawingml/2006/main">
              <a:ext uri="{FF2B5EF4-FFF2-40B4-BE49-F238E27FC236}">
                <a16:creationId xmlns:a16="http://schemas.microsoft.com/office/drawing/2014/main" id="{E1257701-AF06-401A-8E93-D4F2BBD8BDF4}"/>
              </a:ext>
            </a:extLst>
          </p:cNvPr>
          <p:cNvSpPr>
            <a:spLocks xmlns:a="http://schemas.openxmlformats.org/drawingml/2006/main" noGrp="1"/>
          </p:cNvSpPr>
          <p:nvPr/>
        </p:nvSpPr>
        <p:spPr>
          <a:xfrm xmlns:a="http://schemas.openxmlformats.org/drawingml/2006/main">
            <a:off x="9229725" y="2990850"/>
            <a:ext cx="1381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73"/>
          </a:bodyPr>
          <a:lstStyle xmlns:a="http://schemas.openxmlformats.org/drawingml/2006/main"/>
          <a:p xmlns:a="http://schemas.openxmlformats.org/drawingml/2006/main">
            <a:pPr algn="ctr">
              <a:defRPr sz="2325" b="1">
                <a:solidFill>
                  <a:srgbClr val="C4513E"/>
                </a:solidFill>
                <a:latin typeface="Arial"/>
                <a:ea typeface="Arial"/>
                <a:cs typeface="Arial"/>
              </a:defRPr>
            </a:pPr>
            <a:r>
              <a:rPr sz="2325" b="1">
                <a:solidFill>
                  <a:srgbClr val="C4513E"/>
                </a:solidFill>
                <a:latin typeface="Arial"/>
                <a:ea typeface="Arial"/>
                <a:cs typeface="Arial"/>
              </a:rPr>
              <a:t>89</a:t>
            </a:r>
          </a:p>
        </p:txBody>
      </p:sp>
      <p:sp>
        <p:nvSpPr>
          <p:cNvPr id="14" name="matrix-cell-2">
            <a:extLst xmlns:a="http://schemas.openxmlformats.org/drawingml/2006/main">
              <a:ext uri="{FF2B5EF4-FFF2-40B4-BE49-F238E27FC236}">
                <a16:creationId xmlns:a16="http://schemas.microsoft.com/office/drawing/2014/main" id="{3E4E2A4F-AF9D-4072-9B8E-514C0A2862C8}"/>
              </a:ext>
            </a:extLst>
          </p:cNvPr>
          <p:cNvSpPr>
            <a:spLocks xmlns:a="http://schemas.openxmlformats.org/drawingml/2006/main" noGrp="1"/>
          </p:cNvSpPr>
          <p:nvPr/>
        </p:nvSpPr>
        <p:spPr>
          <a:xfrm xmlns:a="http://schemas.openxmlformats.org/drawingml/2006/main">
            <a:off x="7762875" y="3771900"/>
            <a:ext cx="1381125" cy="895350"/>
          </a:xfrm>
          <a:prstGeom xmlns:a="http://schemas.openxmlformats.org/drawingml/2006/main" prst="rect">
            <a:avLst/>
          </a:prstGeom>
          <a:solidFill xmlns:a="http://schemas.openxmlformats.org/drawingml/2006/main">
            <a:srgbClr val="FAE8E3"/>
          </a:solidFill>
          <a:ln xmlns:a="http://schemas.openxmlformats.org/drawingml/2006/main" w="19050">
            <a:solidFill>
              <a:srgbClr val="FFFFFF"/>
            </a:solidFill>
            <a:prstDash val="solid"/>
          </a:ln>
        </p:spPr>
      </p:sp>
      <p:sp>
        <p:nvSpPr>
          <p:cNvPr id="15" name="matrix-value-2">
            <a:extLst xmlns:a="http://schemas.openxmlformats.org/drawingml/2006/main">
              <a:ext uri="{FF2B5EF4-FFF2-40B4-BE49-F238E27FC236}">
                <a16:creationId xmlns:a16="http://schemas.microsoft.com/office/drawing/2014/main" id="{CB869795-32D2-459A-AC1E-A06DF92E766A}"/>
              </a:ext>
            </a:extLst>
          </p:cNvPr>
          <p:cNvSpPr>
            <a:spLocks xmlns:a="http://schemas.openxmlformats.org/drawingml/2006/main" noGrp="1"/>
          </p:cNvSpPr>
          <p:nvPr/>
        </p:nvSpPr>
        <p:spPr>
          <a:xfrm xmlns:a="http://schemas.openxmlformats.org/drawingml/2006/main">
            <a:off x="7762875" y="4000500"/>
            <a:ext cx="1381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73"/>
          </a:bodyPr>
          <a:lstStyle xmlns:a="http://schemas.openxmlformats.org/drawingml/2006/main"/>
          <a:p xmlns:a="http://schemas.openxmlformats.org/drawingml/2006/main">
            <a:pPr algn="ctr">
              <a:defRPr sz="2325" b="1">
                <a:solidFill>
                  <a:srgbClr val="C4513E"/>
                </a:solidFill>
                <a:latin typeface="Arial"/>
                <a:ea typeface="Arial"/>
                <a:cs typeface="Arial"/>
              </a:defRPr>
            </a:pPr>
            <a:r>
              <a:rPr sz="2325" b="1">
                <a:solidFill>
                  <a:srgbClr val="C4513E"/>
                </a:solidFill>
                <a:latin typeface="Arial"/>
                <a:ea typeface="Arial"/>
                <a:cs typeface="Arial"/>
              </a:rPr>
              <a:t>120</a:t>
            </a:r>
          </a:p>
        </p:txBody>
      </p:sp>
      <p:sp>
        <p:nvSpPr>
          <p:cNvPr id="16" name="matrix-cell-3">
            <a:extLst xmlns:a="http://schemas.openxmlformats.org/drawingml/2006/main">
              <a:ext uri="{FF2B5EF4-FFF2-40B4-BE49-F238E27FC236}">
                <a16:creationId xmlns:a16="http://schemas.microsoft.com/office/drawing/2014/main" id="{CDFC5EF3-38A3-4AD6-AA01-B07F305C3241}"/>
              </a:ext>
            </a:extLst>
          </p:cNvPr>
          <p:cNvSpPr>
            <a:spLocks xmlns:a="http://schemas.openxmlformats.org/drawingml/2006/main" noGrp="1"/>
          </p:cNvSpPr>
          <p:nvPr/>
        </p:nvSpPr>
        <p:spPr>
          <a:xfrm xmlns:a="http://schemas.openxmlformats.org/drawingml/2006/main">
            <a:off x="9229725" y="3771900"/>
            <a:ext cx="1381125" cy="895350"/>
          </a:xfrm>
          <a:prstGeom xmlns:a="http://schemas.openxmlformats.org/drawingml/2006/main" prst="rect">
            <a:avLst/>
          </a:prstGeom>
          <a:solidFill xmlns:a="http://schemas.openxmlformats.org/drawingml/2006/main">
            <a:srgbClr val="087F75"/>
          </a:solidFill>
          <a:ln xmlns:a="http://schemas.openxmlformats.org/drawingml/2006/main" w="19050">
            <a:solidFill>
              <a:srgbClr val="FFFFFF"/>
            </a:solidFill>
            <a:prstDash val="solid"/>
          </a:ln>
        </p:spPr>
      </p:sp>
      <p:sp>
        <p:nvSpPr>
          <p:cNvPr id="17" name="matrix-value-3">
            <a:extLst xmlns:a="http://schemas.openxmlformats.org/drawingml/2006/main">
              <a:ext uri="{FF2B5EF4-FFF2-40B4-BE49-F238E27FC236}">
                <a16:creationId xmlns:a16="http://schemas.microsoft.com/office/drawing/2014/main" id="{D56E13EB-0FE6-48CF-A5E7-A53ECCF8B7BC}"/>
              </a:ext>
            </a:extLst>
          </p:cNvPr>
          <p:cNvSpPr>
            <a:spLocks xmlns:a="http://schemas.openxmlformats.org/drawingml/2006/main" noGrp="1"/>
          </p:cNvSpPr>
          <p:nvPr/>
        </p:nvSpPr>
        <p:spPr>
          <a:xfrm xmlns:a="http://schemas.openxmlformats.org/drawingml/2006/main">
            <a:off x="9229725" y="4000500"/>
            <a:ext cx="1381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73"/>
          </a:bodyPr>
          <a:lstStyle xmlns:a="http://schemas.openxmlformats.org/drawingml/2006/main"/>
          <a:p xmlns:a="http://schemas.openxmlformats.org/drawingml/2006/main">
            <a:pPr algn="ctr">
              <a:defRPr sz="2325" b="1">
                <a:solidFill>
                  <a:srgbClr val="FFFFFF"/>
                </a:solidFill>
                <a:latin typeface="Arial"/>
                <a:ea typeface="Arial"/>
                <a:cs typeface="Arial"/>
              </a:defRPr>
            </a:pPr>
            <a:r>
              <a:rPr sz="2325" b="1">
                <a:solidFill>
                  <a:srgbClr val="FFFFFF"/>
                </a:solidFill>
                <a:latin typeface="Arial"/>
                <a:ea typeface="Arial"/>
                <a:cs typeface="Arial"/>
              </a:rPr>
              <a:t>464</a:t>
            </a:r>
          </a:p>
        </p:txBody>
      </p:sp>
      <p:sp>
        <p:nvSpPr>
          <p:cNvPr id="18" name="recall-band">
            <a:extLst xmlns:a="http://schemas.openxmlformats.org/drawingml/2006/main">
              <a:ext uri="{FF2B5EF4-FFF2-40B4-BE49-F238E27FC236}">
                <a16:creationId xmlns:a16="http://schemas.microsoft.com/office/drawing/2014/main" id="{F184331E-F7BE-4A98-AA8A-681EC409625E}"/>
              </a:ext>
            </a:extLst>
          </p:cNvPr>
          <p:cNvSpPr>
            <a:spLocks xmlns:a="http://schemas.openxmlformats.org/drawingml/2006/main" noGrp="1"/>
          </p:cNvSpPr>
          <p:nvPr/>
        </p:nvSpPr>
        <p:spPr>
          <a:xfrm xmlns:a="http://schemas.openxmlformats.org/drawingml/2006/main">
            <a:off x="6858000" y="4953000"/>
            <a:ext cx="3752850" cy="685800"/>
          </a:xfrm>
          <a:prstGeom xmlns:a="http://schemas.openxmlformats.org/drawingml/2006/main" prst="rect">
            <a:avLst/>
          </a:prstGeom>
          <a:solidFill xmlns:a="http://schemas.openxmlformats.org/drawingml/2006/main">
            <a:srgbClr val="14243B"/>
          </a:solidFill>
          <a:ln xmlns:a="http://schemas.openxmlformats.org/drawingml/2006/main" w="0">
            <a:solidFill>
              <a:srgbClr val="14243B"/>
            </a:solidFill>
            <a:prstDash val="solid"/>
          </a:ln>
        </p:spPr>
      </p:sp>
      <p:sp>
        <p:nvSpPr>
          <p:cNvPr id="19" name="recall-negative">
            <a:extLst xmlns:a="http://schemas.openxmlformats.org/drawingml/2006/main">
              <a:ext uri="{FF2B5EF4-FFF2-40B4-BE49-F238E27FC236}">
                <a16:creationId xmlns:a16="http://schemas.microsoft.com/office/drawing/2014/main" id="{0BBF81FE-C3A1-478F-96C5-8458124FA38D}"/>
              </a:ext>
            </a:extLst>
          </p:cNvPr>
          <p:cNvSpPr>
            <a:spLocks xmlns:a="http://schemas.openxmlformats.org/drawingml/2006/main" noGrp="1"/>
          </p:cNvSpPr>
          <p:nvPr/>
        </p:nvSpPr>
        <p:spPr>
          <a:xfrm xmlns:a="http://schemas.openxmlformats.org/drawingml/2006/main">
            <a:off x="7067550" y="5105400"/>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753"/>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84.5% negative recall</a:t>
            </a:r>
          </a:p>
        </p:txBody>
      </p:sp>
      <p:sp>
        <p:nvSpPr>
          <p:cNvPr id="20" name="recall-positive">
            <a:extLst xmlns:a="http://schemas.openxmlformats.org/drawingml/2006/main">
              <a:ext uri="{FF2B5EF4-FFF2-40B4-BE49-F238E27FC236}">
                <a16:creationId xmlns:a16="http://schemas.microsoft.com/office/drawing/2014/main" id="{65B114BD-52D3-45B3-99F8-252DC7120728}"/>
              </a:ext>
            </a:extLst>
          </p:cNvPr>
          <p:cNvSpPr>
            <a:spLocks xmlns:a="http://schemas.openxmlformats.org/drawingml/2006/main" noGrp="1"/>
          </p:cNvSpPr>
          <p:nvPr/>
        </p:nvSpPr>
        <p:spPr>
          <a:xfrm xmlns:a="http://schemas.openxmlformats.org/drawingml/2006/main">
            <a:off x="8763000" y="5105400"/>
            <a:ext cx="1638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153"/>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79.5% positive recall</a:t>
            </a:r>
          </a:p>
        </p:txBody>
      </p:sp>
    </p:spTree>
    <p:extLst>
      <p:ext uri="{BB962C8B-B14F-4D97-AF65-F5344CB8AC3E}">
        <p14:creationId xmlns:p14="http://schemas.microsoft.com/office/powerpoint/2010/main" val="15687995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7-title">
            <a:extLst xmlns:a="http://schemas.openxmlformats.org/drawingml/2006/main">
              <a:ext uri="{FF2B5EF4-FFF2-40B4-BE49-F238E27FC236}">
                <a16:creationId xmlns:a16="http://schemas.microsoft.com/office/drawing/2014/main" id="{A51D9F6B-BB73-4F35-9A76-BC7C6E199E6E}"/>
              </a:ext>
            </a:extLst>
          </p:cNvPr>
          <p:cNvSpPr>
            <a:spLocks xmlns:a="http://schemas.openxmlformats.org/drawingml/2006/main" noGrp="1"/>
          </p:cNvSpPr>
          <p:nvPr/>
        </p:nvSpPr>
        <p:spPr>
          <a:xfrm xmlns:a="http://schemas.openxmlformats.org/drawingml/2006/main">
            <a:off x="514350" y="381000"/>
            <a:ext cx="10572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150" b="1">
                <a:solidFill>
                  <a:srgbClr val="14243B"/>
                </a:solidFill>
                <a:latin typeface="Arial"/>
                <a:ea typeface="Arial"/>
                <a:cs typeface="Arial"/>
              </a:defRPr>
            </a:pPr>
            <a:r>
              <a:rPr sz="3150" b="1">
                <a:solidFill>
                  <a:srgbClr val="14243B"/>
                </a:solidFill>
                <a:latin typeface="Arial"/>
                <a:ea typeface="Arial"/>
                <a:cs typeface="Arial"/>
              </a:rPr>
              <a:t>The website makes the trained model usable</a:t>
            </a:r>
          </a:p>
        </p:txBody>
      </p:sp>
      <p:sp>
        <p:nvSpPr>
          <p:cNvPr id="2" name="slide-7-number">
            <a:extLst xmlns:a="http://schemas.openxmlformats.org/drawingml/2006/main">
              <a:ext uri="{FF2B5EF4-FFF2-40B4-BE49-F238E27FC236}">
                <a16:creationId xmlns:a16="http://schemas.microsoft.com/office/drawing/2014/main" id="{563B3CA7-935C-4BFA-8B09-1D40D9E885F4}"/>
              </a:ext>
            </a:extLst>
          </p:cNvPr>
          <p:cNvSpPr>
            <a:spLocks xmlns:a="http://schemas.openxmlformats.org/drawingml/2006/main" noGrp="1"/>
          </p:cNvSpPr>
          <p:nvPr/>
        </p:nvSpPr>
        <p:spPr>
          <a:xfrm xmlns:a="http://schemas.openxmlformats.org/drawingml/2006/main">
            <a:off x="11191875" y="62293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66667"/>
          </a:bodyPr>
          <a:lstStyle xmlns:a="http://schemas.openxmlformats.org/drawingml/2006/main"/>
          <a:p xmlns:a="http://schemas.openxmlformats.org/drawingml/2006/main">
            <a:pPr algn="r">
              <a:defRPr sz="975" b="0">
                <a:solidFill>
                  <a:srgbClr val="536174"/>
                </a:solidFill>
                <a:latin typeface="Arial"/>
                <a:ea typeface="Arial"/>
                <a:cs typeface="Arial"/>
              </a:defRPr>
            </a:pPr>
            <a:r>
              <a:rPr sz="975" b="0">
                <a:solidFill>
                  <a:srgbClr val="536174"/>
                </a:solidFill>
                <a:latin typeface="Arial"/>
                <a:ea typeface="Arial"/>
                <a:cs typeface="Arial"/>
              </a:rPr>
              <a:t>07</a:t>
            </a:r>
          </a:p>
        </p:txBody>
      </p:sp>
      <p:sp>
        <p:nvSpPr>
          <p:cNvPr id="3" name="bullet-1-dot">
            <a:extLst xmlns:a="http://schemas.openxmlformats.org/drawingml/2006/main">
              <a:ext uri="{FF2B5EF4-FFF2-40B4-BE49-F238E27FC236}">
                <a16:creationId xmlns:a16="http://schemas.microsoft.com/office/drawing/2014/main" id="{7D668087-F755-4C8C-A579-59A2C781DA48}"/>
              </a:ext>
            </a:extLst>
          </p:cNvPr>
          <p:cNvSpPr>
            <a:spLocks xmlns:a="http://schemas.openxmlformats.org/drawingml/2006/main" noGrp="1"/>
          </p:cNvSpPr>
          <p:nvPr/>
        </p:nvSpPr>
        <p:spPr>
          <a:xfrm xmlns:a="http://schemas.openxmlformats.org/drawingml/2006/main">
            <a:off x="533400" y="1819275"/>
            <a:ext cx="323850" cy="323850"/>
          </a:xfrm>
          <a:prstGeom xmlns:a="http://schemas.openxmlformats.org/drawingml/2006/main" prst="ellipse">
            <a:avLst/>
          </a:prstGeom>
          <a:solidFill xmlns:a="http://schemas.openxmlformats.org/drawingml/2006/main">
            <a:srgbClr val="087F75"/>
          </a:solidFill>
          <a:ln xmlns:a="http://schemas.openxmlformats.org/drawingml/2006/main" w="0">
            <a:solidFill>
              <a:srgbClr val="087F75"/>
            </a:solidFill>
            <a:prstDash val="solid"/>
          </a:ln>
        </p:spPr>
      </p:sp>
      <p:sp>
        <p:nvSpPr>
          <p:cNvPr id="4" name="bullet-1-number">
            <a:extLst xmlns:a="http://schemas.openxmlformats.org/drawingml/2006/main">
              <a:ext uri="{FF2B5EF4-FFF2-40B4-BE49-F238E27FC236}">
                <a16:creationId xmlns:a16="http://schemas.microsoft.com/office/drawing/2014/main" id="{A494C913-7DC9-4D69-B96D-265CA6D97740}"/>
              </a:ext>
            </a:extLst>
          </p:cNvPr>
          <p:cNvSpPr>
            <a:spLocks xmlns:a="http://schemas.openxmlformats.org/drawingml/2006/main" noGrp="1"/>
          </p:cNvSpPr>
          <p:nvPr/>
        </p:nvSpPr>
        <p:spPr>
          <a:xfrm xmlns:a="http://schemas.openxmlformats.org/drawingml/2006/main">
            <a:off x="533400" y="183832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5" name="bullet-1-heading">
            <a:extLst xmlns:a="http://schemas.openxmlformats.org/drawingml/2006/main">
              <a:ext uri="{FF2B5EF4-FFF2-40B4-BE49-F238E27FC236}">
                <a16:creationId xmlns:a16="http://schemas.microsoft.com/office/drawing/2014/main" id="{8B6EF7D7-1FEB-480A-AD1A-464A22205F22}"/>
              </a:ext>
            </a:extLst>
          </p:cNvPr>
          <p:cNvSpPr>
            <a:spLocks xmlns:a="http://schemas.openxmlformats.org/drawingml/2006/main" noGrp="1"/>
          </p:cNvSpPr>
          <p:nvPr/>
        </p:nvSpPr>
        <p:spPr>
          <a:xfrm xmlns:a="http://schemas.openxmlformats.org/drawingml/2006/main">
            <a:off x="1009650" y="1762125"/>
            <a:ext cx="361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defRPr sz="1800" b="1">
                <a:solidFill>
                  <a:srgbClr val="14243B"/>
                </a:solidFill>
                <a:latin typeface="Arial"/>
                <a:ea typeface="Arial"/>
                <a:cs typeface="Arial"/>
              </a:defRPr>
            </a:pPr>
            <a:r>
              <a:rPr sz="1800" b="1">
                <a:solidFill>
                  <a:srgbClr val="14243B"/>
                </a:solidFill>
                <a:latin typeface="Arial"/>
                <a:ea typeface="Arial"/>
                <a:cs typeface="Arial"/>
              </a:rPr>
              <a:t>Enter</a:t>
            </a:r>
          </a:p>
        </p:txBody>
      </p:sp>
      <p:sp>
        <p:nvSpPr>
          <p:cNvPr id="6" name="bullet-1-body">
            <a:extLst xmlns:a="http://schemas.openxmlformats.org/drawingml/2006/main">
              <a:ext uri="{FF2B5EF4-FFF2-40B4-BE49-F238E27FC236}">
                <a16:creationId xmlns:a16="http://schemas.microsoft.com/office/drawing/2014/main" id="{FBF8FB37-E62D-413C-BFEE-351DFE7B1E1A}"/>
              </a:ext>
            </a:extLst>
          </p:cNvPr>
          <p:cNvSpPr>
            <a:spLocks xmlns:a="http://schemas.openxmlformats.org/drawingml/2006/main" noGrp="1"/>
          </p:cNvSpPr>
          <p:nvPr/>
        </p:nvSpPr>
        <p:spPr>
          <a:xfrm xmlns:a="http://schemas.openxmlformats.org/drawingml/2006/main">
            <a:off x="1009650" y="2124075"/>
            <a:ext cx="3619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36174"/>
                </a:solidFill>
                <a:latin typeface="Arial"/>
                <a:ea typeface="Arial"/>
                <a:cs typeface="Arial"/>
              </a:defRPr>
            </a:pPr>
            <a:r>
              <a:rPr sz="1350" b="0">
                <a:solidFill>
                  <a:srgbClr val="536174"/>
                </a:solidFill>
                <a:latin typeface="Arial"/>
                <a:ea typeface="Arial"/>
                <a:cs typeface="Arial"/>
              </a:rPr>
              <a:t>Type a review or choose an example</a:t>
            </a:r>
          </a:p>
        </p:txBody>
      </p:sp>
      <p:sp>
        <p:nvSpPr>
          <p:cNvPr id="7" name="bullet-2-dot">
            <a:extLst xmlns:a="http://schemas.openxmlformats.org/drawingml/2006/main">
              <a:ext uri="{FF2B5EF4-FFF2-40B4-BE49-F238E27FC236}">
                <a16:creationId xmlns:a16="http://schemas.microsoft.com/office/drawing/2014/main" id="{D4A0BD66-0CC3-4EA1-A3D1-01BF33E45969}"/>
              </a:ext>
            </a:extLst>
          </p:cNvPr>
          <p:cNvSpPr>
            <a:spLocks xmlns:a="http://schemas.openxmlformats.org/drawingml/2006/main" noGrp="1"/>
          </p:cNvSpPr>
          <p:nvPr/>
        </p:nvSpPr>
        <p:spPr>
          <a:xfrm xmlns:a="http://schemas.openxmlformats.org/drawingml/2006/main">
            <a:off x="533400" y="3086100"/>
            <a:ext cx="323850" cy="323850"/>
          </a:xfrm>
          <a:prstGeom xmlns:a="http://schemas.openxmlformats.org/drawingml/2006/main" prst="ellipse">
            <a:avLst/>
          </a:prstGeom>
          <a:solidFill xmlns:a="http://schemas.openxmlformats.org/drawingml/2006/main">
            <a:srgbClr val="087F75"/>
          </a:solidFill>
          <a:ln xmlns:a="http://schemas.openxmlformats.org/drawingml/2006/main" w="0">
            <a:solidFill>
              <a:srgbClr val="087F75"/>
            </a:solidFill>
            <a:prstDash val="solid"/>
          </a:ln>
        </p:spPr>
      </p:sp>
      <p:sp>
        <p:nvSpPr>
          <p:cNvPr id="8" name="bullet-2-number">
            <a:extLst xmlns:a="http://schemas.openxmlformats.org/drawingml/2006/main">
              <a:ext uri="{FF2B5EF4-FFF2-40B4-BE49-F238E27FC236}">
                <a16:creationId xmlns:a16="http://schemas.microsoft.com/office/drawing/2014/main" id="{8C696D23-3E6B-40EA-BB65-8418AFE6A54B}"/>
              </a:ext>
            </a:extLst>
          </p:cNvPr>
          <p:cNvSpPr>
            <a:spLocks xmlns:a="http://schemas.openxmlformats.org/drawingml/2006/main" noGrp="1"/>
          </p:cNvSpPr>
          <p:nvPr/>
        </p:nvSpPr>
        <p:spPr>
          <a:xfrm xmlns:a="http://schemas.openxmlformats.org/drawingml/2006/main">
            <a:off x="533400" y="310515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9" name="bullet-2-heading">
            <a:extLst xmlns:a="http://schemas.openxmlformats.org/drawingml/2006/main">
              <a:ext uri="{FF2B5EF4-FFF2-40B4-BE49-F238E27FC236}">
                <a16:creationId xmlns:a16="http://schemas.microsoft.com/office/drawing/2014/main" id="{380FECC8-C135-4812-B571-AEC76D943E13}"/>
              </a:ext>
            </a:extLst>
          </p:cNvPr>
          <p:cNvSpPr>
            <a:spLocks xmlns:a="http://schemas.openxmlformats.org/drawingml/2006/main" noGrp="1"/>
          </p:cNvSpPr>
          <p:nvPr/>
        </p:nvSpPr>
        <p:spPr>
          <a:xfrm xmlns:a="http://schemas.openxmlformats.org/drawingml/2006/main">
            <a:off x="1009650" y="3028950"/>
            <a:ext cx="361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defRPr sz="1800" b="1">
                <a:solidFill>
                  <a:srgbClr val="14243B"/>
                </a:solidFill>
                <a:latin typeface="Arial"/>
                <a:ea typeface="Arial"/>
                <a:cs typeface="Arial"/>
              </a:defRPr>
            </a:pPr>
            <a:r>
              <a:rPr sz="1800" b="1">
                <a:solidFill>
                  <a:srgbClr val="14243B"/>
                </a:solidFill>
                <a:latin typeface="Arial"/>
                <a:ea typeface="Arial"/>
                <a:cs typeface="Arial"/>
              </a:rPr>
              <a:t>Analyse</a:t>
            </a:r>
          </a:p>
        </p:txBody>
      </p:sp>
      <p:sp>
        <p:nvSpPr>
          <p:cNvPr id="10" name="bullet-2-body">
            <a:extLst xmlns:a="http://schemas.openxmlformats.org/drawingml/2006/main">
              <a:ext uri="{FF2B5EF4-FFF2-40B4-BE49-F238E27FC236}">
                <a16:creationId xmlns:a16="http://schemas.microsoft.com/office/drawing/2014/main" id="{8C031EAE-CD94-4638-A005-5F4CB20D5398}"/>
              </a:ext>
            </a:extLst>
          </p:cNvPr>
          <p:cNvSpPr>
            <a:spLocks xmlns:a="http://schemas.openxmlformats.org/drawingml/2006/main" noGrp="1"/>
          </p:cNvSpPr>
          <p:nvPr/>
        </p:nvSpPr>
        <p:spPr>
          <a:xfrm xmlns:a="http://schemas.openxmlformats.org/drawingml/2006/main">
            <a:off x="1009650" y="3390900"/>
            <a:ext cx="3619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36174"/>
                </a:solidFill>
                <a:latin typeface="Arial"/>
                <a:ea typeface="Arial"/>
                <a:cs typeface="Arial"/>
              </a:defRPr>
            </a:pPr>
            <a:r>
              <a:rPr sz="1350" b="0">
                <a:solidFill>
                  <a:srgbClr val="536174"/>
                </a:solidFill>
                <a:latin typeface="Arial"/>
                <a:ea typeface="Arial"/>
                <a:cs typeface="Arial"/>
              </a:rPr>
              <a:t>Run the exported weights in the browser</a:t>
            </a:r>
          </a:p>
        </p:txBody>
      </p:sp>
      <p:sp>
        <p:nvSpPr>
          <p:cNvPr id="11" name="bullet-3-dot">
            <a:extLst xmlns:a="http://schemas.openxmlformats.org/drawingml/2006/main">
              <a:ext uri="{FF2B5EF4-FFF2-40B4-BE49-F238E27FC236}">
                <a16:creationId xmlns:a16="http://schemas.microsoft.com/office/drawing/2014/main" id="{AADBEBD7-1343-47C8-BF6F-0EFF21CC3EC6}"/>
              </a:ext>
            </a:extLst>
          </p:cNvPr>
          <p:cNvSpPr>
            <a:spLocks xmlns:a="http://schemas.openxmlformats.org/drawingml/2006/main" noGrp="1"/>
          </p:cNvSpPr>
          <p:nvPr/>
        </p:nvSpPr>
        <p:spPr>
          <a:xfrm xmlns:a="http://schemas.openxmlformats.org/drawingml/2006/main">
            <a:off x="533400" y="4352925"/>
            <a:ext cx="323850" cy="323850"/>
          </a:xfrm>
          <a:prstGeom xmlns:a="http://schemas.openxmlformats.org/drawingml/2006/main" prst="ellipse">
            <a:avLst/>
          </a:prstGeom>
          <a:solidFill xmlns:a="http://schemas.openxmlformats.org/drawingml/2006/main">
            <a:srgbClr val="087F75"/>
          </a:solidFill>
          <a:ln xmlns:a="http://schemas.openxmlformats.org/drawingml/2006/main" w="0">
            <a:solidFill>
              <a:srgbClr val="087F75"/>
            </a:solidFill>
            <a:prstDash val="solid"/>
          </a:ln>
        </p:spPr>
      </p:sp>
      <p:sp>
        <p:nvSpPr>
          <p:cNvPr id="12" name="bullet-3-number">
            <a:extLst xmlns:a="http://schemas.openxmlformats.org/drawingml/2006/main">
              <a:ext uri="{FF2B5EF4-FFF2-40B4-BE49-F238E27FC236}">
                <a16:creationId xmlns:a16="http://schemas.microsoft.com/office/drawing/2014/main" id="{CB6A70AA-5B8E-43DC-AED9-6CE71F8A27B3}"/>
              </a:ext>
            </a:extLst>
          </p:cNvPr>
          <p:cNvSpPr>
            <a:spLocks xmlns:a="http://schemas.openxmlformats.org/drawingml/2006/main" noGrp="1"/>
          </p:cNvSpPr>
          <p:nvPr/>
        </p:nvSpPr>
        <p:spPr>
          <a:xfrm xmlns:a="http://schemas.openxmlformats.org/drawingml/2006/main">
            <a:off x="533400" y="437197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13" name="bullet-3-heading">
            <a:extLst xmlns:a="http://schemas.openxmlformats.org/drawingml/2006/main">
              <a:ext uri="{FF2B5EF4-FFF2-40B4-BE49-F238E27FC236}">
                <a16:creationId xmlns:a16="http://schemas.microsoft.com/office/drawing/2014/main" id="{598C5C39-541F-4693-9EC2-5C7758512595}"/>
              </a:ext>
            </a:extLst>
          </p:cNvPr>
          <p:cNvSpPr>
            <a:spLocks xmlns:a="http://schemas.openxmlformats.org/drawingml/2006/main" noGrp="1"/>
          </p:cNvSpPr>
          <p:nvPr/>
        </p:nvSpPr>
        <p:spPr>
          <a:xfrm xmlns:a="http://schemas.openxmlformats.org/drawingml/2006/main">
            <a:off x="1009650" y="4295775"/>
            <a:ext cx="361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defRPr sz="1800" b="1">
                <a:solidFill>
                  <a:srgbClr val="14243B"/>
                </a:solidFill>
                <a:latin typeface="Arial"/>
                <a:ea typeface="Arial"/>
                <a:cs typeface="Arial"/>
              </a:defRPr>
            </a:pPr>
            <a:r>
              <a:rPr sz="1800" b="1">
                <a:solidFill>
                  <a:srgbClr val="14243B"/>
                </a:solidFill>
                <a:latin typeface="Arial"/>
                <a:ea typeface="Arial"/>
                <a:cs typeface="Arial"/>
              </a:rPr>
              <a:t>Interpret</a:t>
            </a:r>
          </a:p>
        </p:txBody>
      </p:sp>
      <p:sp>
        <p:nvSpPr>
          <p:cNvPr id="14" name="bullet-3-body">
            <a:extLst xmlns:a="http://schemas.openxmlformats.org/drawingml/2006/main">
              <a:ext uri="{FF2B5EF4-FFF2-40B4-BE49-F238E27FC236}">
                <a16:creationId xmlns:a16="http://schemas.microsoft.com/office/drawing/2014/main" id="{9260DEF3-0D82-4D8C-A034-A9A457D24ADE}"/>
              </a:ext>
            </a:extLst>
          </p:cNvPr>
          <p:cNvSpPr>
            <a:spLocks xmlns:a="http://schemas.openxmlformats.org/drawingml/2006/main" noGrp="1"/>
          </p:cNvSpPr>
          <p:nvPr/>
        </p:nvSpPr>
        <p:spPr>
          <a:xfrm xmlns:a="http://schemas.openxmlformats.org/drawingml/2006/main">
            <a:off x="1009650" y="4657725"/>
            <a:ext cx="3619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36174"/>
                </a:solidFill>
                <a:latin typeface="Arial"/>
                <a:ea typeface="Arial"/>
                <a:cs typeface="Arial"/>
              </a:defRPr>
            </a:pPr>
            <a:r>
              <a:rPr sz="1350" b="0">
                <a:solidFill>
                  <a:srgbClr val="536174"/>
                </a:solidFill>
                <a:latin typeface="Arial"/>
                <a:ea typeface="Arial"/>
                <a:cs typeface="Arial"/>
              </a:rPr>
              <a:t>Read the exact label and confidence</a:t>
            </a:r>
          </a:p>
        </p:txBody>
      </p:sp>
      <p:sp>
        <p:nvSpPr>
          <p:cNvPr id="15" name="demo-frame">
            <a:extLst xmlns:a="http://schemas.openxmlformats.org/drawingml/2006/main">
              <a:ext uri="{FF2B5EF4-FFF2-40B4-BE49-F238E27FC236}">
                <a16:creationId xmlns:a16="http://schemas.microsoft.com/office/drawing/2014/main" id="{F23824B0-6437-4483-B46E-16937D339437}"/>
              </a:ext>
            </a:extLst>
          </p:cNvPr>
          <p:cNvSpPr>
            <a:spLocks xmlns:a="http://schemas.openxmlformats.org/drawingml/2006/main" noGrp="1"/>
          </p:cNvSpPr>
          <p:nvPr/>
        </p:nvSpPr>
        <p:spPr>
          <a:xfrm xmlns:a="http://schemas.openxmlformats.org/drawingml/2006/main">
            <a:off x="4953000" y="1476375"/>
            <a:ext cx="6705600" cy="4305300"/>
          </a:xfrm>
          <a:prstGeom xmlns:a="http://schemas.openxmlformats.org/drawingml/2006/main" prst="rect">
            <a:avLst/>
          </a:prstGeom>
          <a:solidFill xmlns:a="http://schemas.openxmlformats.org/drawingml/2006/main">
            <a:srgbClr val="F7F4ED"/>
          </a:solidFill>
          <a:ln xmlns:a="http://schemas.openxmlformats.org/drawingml/2006/main" w="9525">
            <a:solidFill>
              <a:srgbClr val="D9DEDB"/>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ec5f52a57bb542de"/>
          <a:stretch xmlns:a="http://schemas.openxmlformats.org/drawingml/2006/main"/>
        </p:blipFill>
        <p:spPr>
          <a:xfrm xmlns:a="http://schemas.openxmlformats.org/drawingml/2006/main">
            <a:off x="5124450" y="1838415"/>
            <a:ext cx="6362700" cy="3581219"/>
          </a:xfrm>
          <a:prstGeom xmlns:a="http://schemas.openxmlformats.org/drawingml/2006/main" prst="rect">
            <a:avLst/>
          </a:prstGeom>
        </p:spPr>
      </p:pic>
      <p:sp>
        <p:nvSpPr>
          <p:cNvPr id="17" name="demo-url">
            <a:extLst xmlns:a="http://schemas.openxmlformats.org/drawingml/2006/main">
              <a:ext uri="{FF2B5EF4-FFF2-40B4-BE49-F238E27FC236}">
                <a16:creationId xmlns:a16="http://schemas.microsoft.com/office/drawing/2014/main" id="{703AFE62-7C8E-47A0-A2E4-78FB88A8A995}"/>
              </a:ext>
            </a:extLst>
          </p:cNvPr>
          <p:cNvSpPr>
            <a:spLocks xmlns:a="http://schemas.openxmlformats.org/drawingml/2006/main" noGrp="1"/>
          </p:cNvSpPr>
          <p:nvPr/>
        </p:nvSpPr>
        <p:spPr>
          <a:xfrm xmlns:a="http://schemas.openxmlformats.org/drawingml/2006/main">
            <a:off x="533400" y="592455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05635C"/>
                </a:solidFill>
                <a:latin typeface="Arial"/>
                <a:ea typeface="Arial"/>
                <a:cs typeface="Arial"/>
              </a:defRPr>
            </a:pPr>
            <a:r>
              <a:rPr sz="1350" b="1">
                <a:solidFill>
                  <a:srgbClr val="05635C"/>
                </a:solidFill>
                <a:latin typeface="Arial"/>
                <a:ea typeface="Arial"/>
                <a:cs typeface="Arial"/>
              </a:rPr>
              <a:t>vcg-code.github.io/ISY503-Assessment-3-ReviewLens/</a:t>
            </a:r>
          </a:p>
        </p:txBody>
      </p:sp>
    </p:spTree>
    <p:extLst>
      <p:ext uri="{BB962C8B-B14F-4D97-AF65-F5344CB8AC3E}">
        <p14:creationId xmlns:p14="http://schemas.microsoft.com/office/powerpoint/2010/main" val="63839838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close-accent">
            <a:extLst xmlns:a="http://schemas.openxmlformats.org/drawingml/2006/main">
              <a:ext uri="{FF2B5EF4-FFF2-40B4-BE49-F238E27FC236}">
                <a16:creationId xmlns:a16="http://schemas.microsoft.com/office/drawing/2014/main" id="{8F07D0EA-AE2F-4109-8080-701465A06B2A}"/>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7F75"/>
          </a:solidFill>
          <a:ln xmlns:a="http://schemas.openxmlformats.org/drawingml/2006/main" w="0">
            <a:solidFill>
              <a:srgbClr val="087F75"/>
            </a:solidFill>
            <a:prstDash val="solid"/>
          </a:ln>
        </p:spPr>
      </p:sp>
      <p:sp>
        <p:nvSpPr>
          <p:cNvPr id="2" name="close-eyebrow">
            <a:extLst xmlns:a="http://schemas.openxmlformats.org/drawingml/2006/main">
              <a:ext uri="{FF2B5EF4-FFF2-40B4-BE49-F238E27FC236}">
                <a16:creationId xmlns:a16="http://schemas.microsoft.com/office/drawing/2014/main" id="{7BCE36C8-4403-45EE-B3C9-D1D431BA3CAC}"/>
              </a:ext>
            </a:extLst>
          </p:cNvPr>
          <p:cNvSpPr>
            <a:spLocks xmlns:a="http://schemas.openxmlformats.org/drawingml/2006/main" noGrp="1"/>
          </p:cNvSpPr>
          <p:nvPr/>
        </p:nvSpPr>
        <p:spPr>
          <a:xfrm xmlns:a="http://schemas.openxmlformats.org/drawingml/2006/main">
            <a:off x="609600" y="5524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05635C"/>
                </a:solidFill>
                <a:latin typeface="Arial"/>
                <a:ea typeface="Arial"/>
                <a:cs typeface="Arial"/>
              </a:defRPr>
            </a:pPr>
            <a:r>
              <a:rPr sz="1200" b="1">
                <a:solidFill>
                  <a:srgbClr val="05635C"/>
                </a:solidFill>
                <a:latin typeface="Arial"/>
                <a:ea typeface="Arial"/>
                <a:cs typeface="Arial"/>
              </a:rPr>
              <a:t>RESPONSIBLE NLP</a:t>
            </a:r>
          </a:p>
        </p:txBody>
      </p:sp>
      <p:sp>
        <p:nvSpPr>
          <p:cNvPr id="3" name="close-title">
            <a:extLst xmlns:a="http://schemas.openxmlformats.org/drawingml/2006/main">
              <a:ext uri="{FF2B5EF4-FFF2-40B4-BE49-F238E27FC236}">
                <a16:creationId xmlns:a16="http://schemas.microsoft.com/office/drawing/2014/main" id="{048E027A-68E8-46EA-949C-9FB5305640A9}"/>
              </a:ext>
            </a:extLst>
          </p:cNvPr>
          <p:cNvSpPr>
            <a:spLocks xmlns:a="http://schemas.openxmlformats.org/drawingml/2006/main" noGrp="1"/>
          </p:cNvSpPr>
          <p:nvPr/>
        </p:nvSpPr>
        <p:spPr>
          <a:xfrm xmlns:a="http://schemas.openxmlformats.org/drawingml/2006/main">
            <a:off x="609600" y="1619250"/>
            <a:ext cx="8191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4500" b="1">
                <a:solidFill>
                  <a:srgbClr val="14243B"/>
                </a:solidFill>
                <a:latin typeface="Arial"/>
                <a:ea typeface="Arial"/>
                <a:cs typeface="Arial"/>
              </a:defRPr>
            </a:pPr>
            <a:r>
              <a:rPr sz="4500" b="1">
                <a:solidFill>
                  <a:srgbClr val="14243B"/>
                </a:solidFill>
                <a:latin typeface="Arial"/>
                <a:ea typeface="Arial"/>
                <a:cs typeface="Arial"/>
              </a:rPr>
              <a:t>Useful evidence—</a:t>
            </a:r>
          </a:p>
          <a:p xmlns:a="http://schemas.openxmlformats.org/drawingml/2006/main">
            <a:pPr algn="l">
              <a:defRPr sz="4500" b="1">
                <a:solidFill>
                  <a:srgbClr val="14243B"/>
                </a:solidFill>
                <a:latin typeface="Arial"/>
                <a:ea typeface="Arial"/>
                <a:cs typeface="Arial"/>
              </a:defRPr>
            </a:pPr>
            <a:r>
              <a:rPr sz="4500" b="1">
                <a:solidFill>
                  <a:srgbClr val="14243B"/>
                </a:solidFill>
                <a:latin typeface="Arial"/>
                <a:ea typeface="Arial"/>
                <a:cs typeface="Arial"/>
              </a:rPr>
              <a:t>not a final verdict.</a:t>
            </a:r>
          </a:p>
        </p:txBody>
      </p:sp>
      <p:sp>
        <p:nvSpPr>
          <p:cNvPr id="4" name="close-limitations">
            <a:extLst xmlns:a="http://schemas.openxmlformats.org/drawingml/2006/main">
              <a:ext uri="{FF2B5EF4-FFF2-40B4-BE49-F238E27FC236}">
                <a16:creationId xmlns:a16="http://schemas.microsoft.com/office/drawing/2014/main" id="{F66D4812-A72D-4C16-BD8D-AF323B9F18D8}"/>
              </a:ext>
            </a:extLst>
          </p:cNvPr>
          <p:cNvSpPr>
            <a:spLocks xmlns:a="http://schemas.openxmlformats.org/drawingml/2006/main" noGrp="1"/>
          </p:cNvSpPr>
          <p:nvPr/>
        </p:nvSpPr>
        <p:spPr>
          <a:xfrm xmlns:a="http://schemas.openxmlformats.org/drawingml/2006/main">
            <a:off x="609600" y="4476750"/>
            <a:ext cx="6286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0">
                <a:solidFill>
                  <a:srgbClr val="536174"/>
                </a:solidFill>
                <a:latin typeface="Arial"/>
                <a:ea typeface="Arial"/>
                <a:cs typeface="Arial"/>
              </a:defRPr>
            </a:pPr>
            <a:r>
              <a:rPr sz="1800" b="0">
                <a:solidFill>
                  <a:srgbClr val="536174"/>
                </a:solidFill>
                <a:latin typeface="Arial"/>
                <a:ea typeface="Arial"/>
                <a:cs typeface="Arial"/>
              </a:rPr>
              <a:t>English Amazon reviews only</a:t>
            </a:r>
          </a:p>
          <a:p xmlns:a="http://schemas.openxmlformats.org/drawingml/2006/main">
            <a:pPr algn="l">
              <a:defRPr sz="1800" b="0">
                <a:solidFill>
                  <a:srgbClr val="536174"/>
                </a:solidFill>
                <a:latin typeface="Arial"/>
                <a:ea typeface="Arial"/>
                <a:cs typeface="Arial"/>
              </a:defRPr>
            </a:pPr>
            <a:r>
              <a:rPr sz="1800" b="0">
                <a:solidFill>
                  <a:srgbClr val="536174"/>
                </a:solidFill>
                <a:latin typeface="Arial"/>
                <a:ea typeface="Arial"/>
                <a:cs typeface="Arial"/>
              </a:rPr>
              <a:t>Sarcasm and mixed sentiment remain difficult</a:t>
            </a:r>
          </a:p>
          <a:p xmlns:a="http://schemas.openxmlformats.org/drawingml/2006/main">
            <a:pPr algn="l">
              <a:defRPr sz="1800" b="0">
                <a:solidFill>
                  <a:srgbClr val="536174"/>
                </a:solidFill>
                <a:latin typeface="Arial"/>
                <a:ea typeface="Arial"/>
                <a:cs typeface="Arial"/>
              </a:defRPr>
            </a:pPr>
            <a:r>
              <a:rPr sz="1800" b="0">
                <a:solidFill>
                  <a:srgbClr val="536174"/>
                </a:solidFill>
                <a:latin typeface="Arial"/>
                <a:ea typeface="Arial"/>
                <a:cs typeface="Arial"/>
              </a:rPr>
              <a:t>Human judgement stays essential</a:t>
            </a:r>
          </a:p>
        </p:txBody>
      </p:sp>
      <p:sp>
        <p:nvSpPr>
          <p:cNvPr id="5" name="close-symbol">
            <a:extLst xmlns:a="http://schemas.openxmlformats.org/drawingml/2006/main">
              <a:ext uri="{FF2B5EF4-FFF2-40B4-BE49-F238E27FC236}">
                <a16:creationId xmlns:a16="http://schemas.microsoft.com/office/drawing/2014/main" id="{E7D35F9D-AF33-4FE7-958C-41FDDACEE395}"/>
              </a:ext>
            </a:extLst>
          </p:cNvPr>
          <p:cNvSpPr>
            <a:spLocks xmlns:a="http://schemas.openxmlformats.org/drawingml/2006/main" noGrp="1"/>
          </p:cNvSpPr>
          <p:nvPr/>
        </p:nvSpPr>
        <p:spPr>
          <a:xfrm xmlns:a="http://schemas.openxmlformats.org/drawingml/2006/main">
            <a:off x="9239250" y="2095500"/>
            <a:ext cx="1619250" cy="1619250"/>
          </a:xfrm>
          <a:prstGeom xmlns:a="http://schemas.openxmlformats.org/drawingml/2006/main" prst="ellipse">
            <a:avLst/>
          </a:prstGeom>
          <a:solidFill xmlns:a="http://schemas.openxmlformats.org/drawingml/2006/main">
            <a:srgbClr val="DCEFEB"/>
          </a:solidFill>
          <a:ln xmlns:a="http://schemas.openxmlformats.org/drawingml/2006/main" w="19050">
            <a:solidFill>
              <a:srgbClr val="087F75"/>
            </a:solidFill>
            <a:prstDash val="solid"/>
          </a:ln>
        </p:spPr>
      </p:sp>
      <p:sp>
        <p:nvSpPr>
          <p:cNvPr id="6" name="close-symbol-text">
            <a:extLst xmlns:a="http://schemas.openxmlformats.org/drawingml/2006/main">
              <a:ext uri="{FF2B5EF4-FFF2-40B4-BE49-F238E27FC236}">
                <a16:creationId xmlns:a16="http://schemas.microsoft.com/office/drawing/2014/main" id="{549DDA02-408E-4475-B6D2-5C079840175B}"/>
              </a:ext>
            </a:extLst>
          </p:cNvPr>
          <p:cNvSpPr>
            <a:spLocks xmlns:a="http://schemas.openxmlformats.org/drawingml/2006/main" noGrp="1"/>
          </p:cNvSpPr>
          <p:nvPr/>
        </p:nvSpPr>
        <p:spPr>
          <a:xfrm xmlns:a="http://schemas.openxmlformats.org/drawingml/2006/main">
            <a:off x="9239250" y="2266950"/>
            <a:ext cx="1619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5850" b="1">
                <a:solidFill>
                  <a:srgbClr val="05635C"/>
                </a:solidFill>
                <a:latin typeface="Arial"/>
                <a:ea typeface="Arial"/>
                <a:cs typeface="Arial"/>
              </a:defRPr>
            </a:pPr>
            <a:r>
              <a:rPr sz="5850" b="1">
                <a:solidFill>
                  <a:srgbClr val="05635C"/>
                </a:solidFill>
                <a:latin typeface="Arial"/>
                <a:ea typeface="Arial"/>
                <a:cs typeface="Arial"/>
              </a:rPr>
              <a:t>R</a:t>
            </a:r>
          </a:p>
        </p:txBody>
      </p:sp>
    </p:spTree>
    <p:extLst>
      <p:ext uri="{BB962C8B-B14F-4D97-AF65-F5344CB8AC3E}">
        <p14:creationId xmlns:p14="http://schemas.microsoft.com/office/powerpoint/2010/main" val="4332865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2026-08-18T09:09:04.7700000Z</dcterms:created>
  <dcterms:modified xsi:type="dcterms:W3CDTF">2026-08-18T09:09:04.7700000Z</dcterms:modified>
</coreProperties>
</file>